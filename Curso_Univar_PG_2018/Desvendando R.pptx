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4.wmf" ContentType="image/x-wmf"/>
  <Override PartName="/ppt/media/image3.wmf" ContentType="image/x-wmf"/>
  <Override PartName="/ppt/media/image1.wmf" ContentType="image/x-wmf"/>
  <Override PartName="/ppt/media/image2.wmf" ContentType="image/x-wmf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mover o slide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/>
          <a:p>
            <a:r>
              <a:rPr b="0" lang="pt-BR" sz="2000" spc="-1" strike="noStrike">
                <a:latin typeface="Arial"/>
              </a:rPr>
              <a:t>Clique para editar o formato de notas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r>
              <a:rPr b="0" lang="pt-BR" sz="1400" spc="-1" strike="noStrike">
                <a:latin typeface="Times New Roman"/>
              </a:rPr>
              <a:t>&lt;cabeçalho&gt;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02652F65-6AEB-4EA4-B895-EB7A2DCA364F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 algn="r">
              <a:lnSpc>
                <a:spcPct val="100000"/>
              </a:lnSpc>
            </a:pPr>
            <a:fld id="{764D92D3-3B38-46CE-99D5-1455208BA175}" type="slidenum"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&lt;número&gt;</a:t>
            </a:fld>
            <a:endParaRPr b="0" lang="pt-BR" sz="12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/>
          <a:p>
            <a:endParaRPr b="0" lang="pt-BR" sz="20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/>
          <a:p>
            <a:endParaRPr b="0" lang="pt-BR" sz="2000" spc="-1" strike="noStrike">
              <a:latin typeface="Arial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 algn="r">
              <a:lnSpc>
                <a:spcPct val="100000"/>
              </a:lnSpc>
            </a:pPr>
            <a:fld id="{EED24330-BEF2-4FC8-9508-3A3F327D34DE}" type="slidenum">
              <a:rPr b="0" lang="pt-B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/>
          <a:p>
            <a:endParaRPr b="0" lang="pt-BR" sz="2000" spc="-1" strike="noStrike">
              <a:latin typeface="Arial"/>
            </a:endParaRPr>
          </a:p>
        </p:txBody>
      </p:sp>
      <p:sp>
        <p:nvSpPr>
          <p:cNvPr id="104" name="CustomShape 2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 algn="r">
              <a:lnSpc>
                <a:spcPct val="100000"/>
              </a:lnSpc>
            </a:pPr>
            <a:fld id="{FF9B5235-A97F-474F-BF25-FD131F7E4E0B}" type="slidenum">
              <a:rPr b="0" lang="pt-B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/>
          <a:p>
            <a:endParaRPr b="0" lang="pt-BR" sz="2000" spc="-1" strike="noStrike">
              <a:latin typeface="Arial"/>
            </a:endParaRPr>
          </a:p>
        </p:txBody>
      </p:sp>
      <p:sp>
        <p:nvSpPr>
          <p:cNvPr id="106" name="CustomShape 2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 algn="r">
              <a:lnSpc>
                <a:spcPct val="100000"/>
              </a:lnSpc>
            </a:pPr>
            <a:fld id="{0295602D-C6EB-4F04-86E6-55C5312EF2FA}" type="slidenum">
              <a:rPr b="0" lang="pt-B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/>
          <a:p>
            <a:endParaRPr b="0" lang="pt-BR" sz="2000" spc="-1" strike="noStrike">
              <a:latin typeface="Arial"/>
            </a:endParaRPr>
          </a:p>
        </p:txBody>
      </p:sp>
      <p:sp>
        <p:nvSpPr>
          <p:cNvPr id="108" name="CustomShape 2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 algn="r">
              <a:lnSpc>
                <a:spcPct val="100000"/>
              </a:lnSpc>
            </a:pPr>
            <a:fld id="{4F0E5258-BDE2-4B42-A28D-947BB83B0F79}" type="slidenum">
              <a:rPr b="0" lang="pt-B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/>
          <a:p>
            <a:endParaRPr b="0" lang="pt-BR" sz="2000" spc="-1" strike="noStrike">
              <a:latin typeface="Arial"/>
            </a:endParaRPr>
          </a:p>
        </p:txBody>
      </p:sp>
      <p:sp>
        <p:nvSpPr>
          <p:cNvPr id="110" name="CustomShape 2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 algn="r">
              <a:lnSpc>
                <a:spcPct val="100000"/>
              </a:lnSpc>
            </a:pPr>
            <a:fld id="{CD9FC434-7F49-4EAF-93F5-55675DA06FBD}" type="slidenum">
              <a:rPr b="0" lang="pt-B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/>
          <a:p>
            <a:endParaRPr b="0" lang="pt-BR" sz="2000" spc="-1" strike="noStrike">
              <a:latin typeface="Arial"/>
            </a:endParaRPr>
          </a:p>
        </p:txBody>
      </p:sp>
      <p:sp>
        <p:nvSpPr>
          <p:cNvPr id="112" name="CustomShape 2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 algn="r">
              <a:lnSpc>
                <a:spcPct val="100000"/>
              </a:lnSpc>
            </a:pPr>
            <a:fld id="{7E9F8246-7BC3-42B9-9872-1FFCE6FE620C}" type="slidenum">
              <a:rPr b="0" lang="pt-B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/>
          <a:p>
            <a:endParaRPr b="0" lang="pt-BR" sz="2000" spc="-1" strike="noStrike"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 algn="r">
              <a:lnSpc>
                <a:spcPct val="100000"/>
              </a:lnSpc>
            </a:pPr>
            <a:fld id="{23542DF6-9931-4AF0-AA43-2A83C14A2104}" type="slidenum">
              <a:rPr b="0" lang="pt-B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cran.r-project.org/" TargetMode="External"/><Relationship Id="rId2" Type="http://schemas.openxmlformats.org/officeDocument/2006/relationships/hyperlink" Target="http://www.rstudio.com/" TargetMode="External"/><Relationship Id="rId3" Type="http://schemas.openxmlformats.org/officeDocument/2006/relationships/hyperlink" Target="http://www.r-bloggers.com/" TargetMode="External"/><Relationship Id="rId4" Type="http://schemas.openxmlformats.org/officeDocument/2006/relationships/hyperlink" Target="http://pt.stackoverflow.com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wmf"/><Relationship Id="rId4" Type="http://schemas.openxmlformats.org/officeDocument/2006/relationships/image" Target="../media/image4.wmf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r">
              <a:lnSpc>
                <a:spcPct val="100000"/>
              </a:lnSpc>
            </a:pPr>
            <a:fld id="{404BD5D8-888B-4BE6-A9F5-755EA0882107}" type="slidenum">
              <a:rPr b="0" lang="pt-BR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&lt;número&gt;</a:t>
            </a:fld>
            <a:endParaRPr b="0" lang="pt-BR" sz="1200" spc="-1" strike="noStrike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395640" y="188640"/>
            <a:ext cx="8228880" cy="44323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4000" spc="-1" strike="noStrike">
                <a:solidFill>
                  <a:srgbClr val="000000"/>
                </a:solidFill>
                <a:latin typeface="Calibri"/>
                <a:ea typeface="DejaVu Sans"/>
              </a:rPr>
              <a:t>DESVENDANDO O R</a:t>
            </a:r>
            <a:endParaRPr b="0" lang="pt-BR" sz="4000" spc="-1" strike="noStrike">
              <a:latin typeface="Arial"/>
            </a:endParaRPr>
          </a:p>
          <a:p>
            <a:pPr algn="r">
              <a:lnSpc>
                <a:spcPct val="100000"/>
              </a:lnSpc>
            </a:pPr>
            <a:endParaRPr b="0" lang="pt-BR" sz="4000" spc="-1" strike="noStrike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Prof. Maurício Garcia de Camargo</a:t>
            </a:r>
            <a:endParaRPr b="0" lang="pt-BR" sz="2400" spc="-1" strike="noStrike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IO-FURG</a:t>
            </a:r>
            <a:endParaRPr b="0" lang="pt-BR" sz="2400" spc="-1" strike="noStrike">
              <a:latin typeface="Arial"/>
            </a:endParaRPr>
          </a:p>
          <a:p>
            <a:pPr algn="r">
              <a:lnSpc>
                <a:spcPct val="100000"/>
              </a:lnSpc>
            </a:pP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Rio Grande</a:t>
            </a: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10/2018</a:t>
            </a:r>
            <a:endParaRPr b="0" lang="pt-BR" sz="2400" spc="-1" strike="noStrike"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0" y="0"/>
            <a:ext cx="9143280" cy="6188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2000" spc="-1" strike="noStrike" u="sng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O que é o R?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 marL="457200" indent="-456480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1. É um sistema livre (Copyleft), extremamente versátil, que serve para:</a:t>
            </a:r>
            <a:endParaRPr b="0" lang="pt-BR" sz="2000" spc="-1" strike="noStrike">
              <a:latin typeface="Arial"/>
            </a:endParaRPr>
          </a:p>
          <a:p>
            <a:pPr marL="457200" indent="-456480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- Ler e manipular dados</a:t>
            </a:r>
            <a:endParaRPr b="0" lang="pt-BR" sz="2000" spc="-1" strike="noStrike">
              <a:latin typeface="Arial"/>
            </a:endParaRPr>
          </a:p>
          <a:p>
            <a:pPr marL="457200" indent="-456480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- realizar cálculos</a:t>
            </a:r>
            <a:endParaRPr b="0" lang="pt-BR" sz="2000" spc="-1" strike="noStrike">
              <a:latin typeface="Arial"/>
            </a:endParaRPr>
          </a:p>
          <a:p>
            <a:pPr marL="457200" indent="-456480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- conduzir análises estatísticas</a:t>
            </a:r>
            <a:endParaRPr b="0" lang="pt-BR" sz="2000" spc="-1" strike="noStrike">
              <a:latin typeface="Arial"/>
            </a:endParaRPr>
          </a:p>
          <a:p>
            <a:pPr marL="457200" indent="-456480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- apresentar graficamente os resultados</a:t>
            </a:r>
            <a:endParaRPr b="0" lang="pt-BR" sz="2000" spc="-1" strike="noStrike">
              <a:latin typeface="Arial"/>
            </a:endParaRPr>
          </a:p>
          <a:p>
            <a:pPr marL="457200" indent="-456480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Em resumo, R é um ambiente para computação estatística e gráfica.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2. É um clone de código aberto do sistema comercial S-Plus e uma implementação da linguagem de programação S (orientada a objetos)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3. Uma plataforma para desenvolvimento de novos algoritmos.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“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Não pergunte ‘o que’ o R faz, mas 'como' ele faz...” (Paulo Justiniano)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 funciona com "pacotes", pedaços de software para determinadas funções, que podem ser desenvolvidos por qualquer pessoa.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0"/>
            <a:ext cx="9143280" cy="645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4. É a linguagem moderna dos cientistas, que facilita a tranferência de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tecnologia (muito importante para países do terceiro mundo).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5. É um sistema que faz milagres!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000000"/>
                </a:solidFill>
                <a:latin typeface="Courier New"/>
                <a:ea typeface="DejaVu Sans"/>
              </a:rPr>
              <a:t>library(vegan)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000000"/>
                </a:solidFill>
                <a:latin typeface="Courier New"/>
                <a:ea typeface="DejaVu Sans"/>
              </a:rPr>
              <a:t>data(dune)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000000"/>
                </a:solidFill>
                <a:latin typeface="Courier New"/>
                <a:ea typeface="DejaVu Sans"/>
              </a:rPr>
              <a:t>plot(metaMDS(dune)$species)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200" spc="-1" strike="noStrike" u="sng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Vantagens do R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200" spc="-1" strike="noStrike">
              <a:latin typeface="Arial"/>
            </a:endParaRPr>
          </a:p>
          <a:p>
            <a:pPr indent="-2156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R é grátis!</a:t>
            </a:r>
            <a:endParaRPr b="0" lang="pt-BR" sz="2200" spc="-1" strike="noStrike">
              <a:latin typeface="Arial"/>
            </a:endParaRPr>
          </a:p>
          <a:p>
            <a:pPr indent="-2156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Funciona em qualquer sistema operacional (Windows, Linux e Mac)</a:t>
            </a:r>
            <a:endParaRPr b="0" lang="pt-BR" sz="2200" spc="-1" strike="noStrike">
              <a:latin typeface="Arial"/>
            </a:endParaRPr>
          </a:p>
          <a:p>
            <a:pPr indent="-2156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Grandes estatísticos colaboram com o projeto</a:t>
            </a:r>
            <a:endParaRPr b="0" lang="pt-BR" sz="2200" spc="-1" strike="noStrike">
              <a:latin typeface="Arial"/>
            </a:endParaRPr>
          </a:p>
          <a:p>
            <a:pPr indent="-2156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Scripts (códigos) podem ser trocados entre cientistas</a:t>
            </a:r>
            <a:endParaRPr b="0" lang="pt-BR" sz="2200" spc="-1" strike="noStrike">
              <a:latin typeface="Arial"/>
            </a:endParaRPr>
          </a:p>
          <a:p>
            <a:pPr indent="-2156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Facilita o aprendizado de estatística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- Quem não souber R estará defasado.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200" spc="-1" strike="noStrike"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" y="72000"/>
            <a:ext cx="9143280" cy="649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2000" spc="-1" strike="noStrike" u="sng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Recursos na internet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Os recursos da internet mais importantes sobre o sistema R são: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Calibri"/>
                <a:ea typeface="DejaVu Sans"/>
                <a:hlinkClick r:id="rId1"/>
              </a:rPr>
              <a:t>http://www.cran.r-project.org/</a:t>
            </a:r>
            <a:r>
              <a:rPr b="1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-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CRAN (“Comprehensive R Archive Network”) é o site onde se podem baixar os arquivos de instalação do R e onde se encontram todos os pacotes oficiais que complementam o programa. O site abriga também toda documentação do R. Digite no Google: CRAN.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Wingdings"/>
                <a:ea typeface="DejaVu Sans"/>
                <a:hlinkClick r:id="rId2"/>
              </a:rPr>
              <a:t>http://www.rstudio.com/</a:t>
            </a:r>
            <a:r>
              <a:rPr b="0" lang="pt-BR" sz="2000" spc="-1" strike="noStrike">
                <a:solidFill>
                  <a:srgbClr val="000000"/>
                </a:solidFill>
                <a:latin typeface="Wingdings"/>
                <a:ea typeface="DejaVu Sans"/>
              </a:rPr>
              <a:t>	</a:t>
            </a:r>
            <a:r>
              <a:rPr b="0" lang="pt-BR" sz="2000" spc="-1" strike="noStrike">
                <a:solidFill>
                  <a:srgbClr val="000000"/>
                </a:solidFill>
                <a:latin typeface="Wingdings"/>
                <a:ea typeface="DejaVu Sans"/>
              </a:rPr>
              <a:t>- 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Página do Rstudio, o melhor IDE (Integrated Development Environment) para R. Aqui também existem pacotes para o R que auxiliam na manipulação de dados (planilhagem) e gráficos de alta complexidade.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Calibri"/>
                <a:ea typeface="DejaVu Sans"/>
                <a:hlinkClick r:id="rId3"/>
              </a:rPr>
              <a:t>http://www.r-bloggers.com/</a:t>
            </a:r>
            <a:r>
              <a:rPr b="1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Página que agrega bloggers do mundo inteiro falando sobre R. É só pesquisar dentro do site. 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Calibri"/>
                <a:ea typeface="DejaVu Sans"/>
                <a:hlinkClick r:id="rId4"/>
              </a:rPr>
              <a:t>http://pt.stackoverflow.com/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- S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ite em português de perguntas e respostas para entusiastas no R (ou em qualquer outra linguagen). É famoso pela abrangência das respostas. Todas as dúvidas estão lá.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-71280" y="1735920"/>
            <a:ext cx="9143280" cy="301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MÃOS NA MASSA...</a:t>
            </a: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Instalar versão atualizada do </a:t>
            </a: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</a:t>
            </a: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http://cran.r-project.org/</a:t>
            </a: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Instalar versão atualilzada do </a:t>
            </a: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Rstudio</a:t>
            </a: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http://www.rstudio.com/</a:t>
            </a:r>
            <a:endParaRPr b="0" lang="pt-BR" sz="2400" spc="-1" strike="noStrike"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0" y="0"/>
            <a:ext cx="9143280" cy="1918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2400" spc="-1" strike="noStrike" u="sng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Exercício 1 (calculadora)</a:t>
            </a: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Muitos dos erros cometidos por iniciantes no R estão relacionados com parênteses:</a:t>
            </a:r>
            <a:endParaRPr b="0" lang="pt-BR" sz="2400" spc="-1" strike="noStrike">
              <a:latin typeface="Arial"/>
            </a:endParaRPr>
          </a:p>
        </p:txBody>
      </p:sp>
      <p:pic>
        <p:nvPicPr>
          <p:cNvPr id="89" name="Imagem 91" descr=""/>
          <p:cNvPicPr/>
          <p:nvPr/>
        </p:nvPicPr>
        <p:blipFill>
          <a:blip r:embed="rId1"/>
          <a:stretch/>
        </p:blipFill>
        <p:spPr>
          <a:xfrm>
            <a:off x="2616120" y="1930320"/>
            <a:ext cx="495000" cy="596520"/>
          </a:xfrm>
          <a:prstGeom prst="rect">
            <a:avLst/>
          </a:prstGeom>
          <a:ln>
            <a:noFill/>
          </a:ln>
        </p:spPr>
      </p:pic>
      <p:pic>
        <p:nvPicPr>
          <p:cNvPr id="90" name="Imagem 92" descr=""/>
          <p:cNvPicPr/>
          <p:nvPr/>
        </p:nvPicPr>
        <p:blipFill>
          <a:blip r:embed="rId2"/>
          <a:stretch/>
        </p:blipFill>
        <p:spPr>
          <a:xfrm>
            <a:off x="2590920" y="2717640"/>
            <a:ext cx="1968120" cy="596520"/>
          </a:xfrm>
          <a:prstGeom prst="rect">
            <a:avLst/>
          </a:prstGeom>
          <a:ln>
            <a:noFill/>
          </a:ln>
        </p:spPr>
      </p:pic>
      <p:pic>
        <p:nvPicPr>
          <p:cNvPr id="91" name="Imagem 93" descr=""/>
          <p:cNvPicPr/>
          <p:nvPr/>
        </p:nvPicPr>
        <p:blipFill>
          <a:blip r:embed="rId3"/>
          <a:stretch/>
        </p:blipFill>
        <p:spPr>
          <a:xfrm>
            <a:off x="2552760" y="4381560"/>
            <a:ext cx="1676160" cy="698040"/>
          </a:xfrm>
          <a:prstGeom prst="rect">
            <a:avLst/>
          </a:prstGeom>
          <a:ln>
            <a:noFill/>
          </a:ln>
        </p:spPr>
      </p:pic>
      <p:pic>
        <p:nvPicPr>
          <p:cNvPr id="92" name="Imagem 94" descr=""/>
          <p:cNvPicPr/>
          <p:nvPr/>
        </p:nvPicPr>
        <p:blipFill>
          <a:blip r:embed="rId4"/>
          <a:stretch/>
        </p:blipFill>
        <p:spPr>
          <a:xfrm>
            <a:off x="2590920" y="3568680"/>
            <a:ext cx="1180800" cy="634680"/>
          </a:xfrm>
          <a:prstGeom prst="rect">
            <a:avLst/>
          </a:prstGeom>
          <a:ln>
            <a:noFill/>
          </a:ln>
        </p:spPr>
      </p:pic>
      <p:sp>
        <p:nvSpPr>
          <p:cNvPr id="93" name="TextShape 2"/>
          <p:cNvSpPr txBox="1"/>
          <p:nvPr/>
        </p:nvSpPr>
        <p:spPr>
          <a:xfrm>
            <a:off x="1152000" y="2016000"/>
            <a:ext cx="432000" cy="305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pt-BR" sz="1800" spc="-1" strike="noStrike">
                <a:latin typeface="Arial"/>
              </a:rPr>
              <a:t>1.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94" name="TextShape 3"/>
          <p:cNvSpPr txBox="1"/>
          <p:nvPr/>
        </p:nvSpPr>
        <p:spPr>
          <a:xfrm>
            <a:off x="1177920" y="2862720"/>
            <a:ext cx="432000" cy="305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pt-BR" sz="1800" spc="-1" strike="noStrike">
                <a:latin typeface="Arial"/>
              </a:rPr>
              <a:t>2.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95" name="TextShape 4"/>
          <p:cNvSpPr txBox="1"/>
          <p:nvPr/>
        </p:nvSpPr>
        <p:spPr>
          <a:xfrm>
            <a:off x="1224000" y="3726720"/>
            <a:ext cx="432000" cy="305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pt-BR" sz="1800" spc="-1" strike="noStrike">
                <a:latin typeface="Arial"/>
              </a:rPr>
              <a:t>3.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96" name="TextShape 5"/>
          <p:cNvSpPr txBox="1"/>
          <p:nvPr/>
        </p:nvSpPr>
        <p:spPr>
          <a:xfrm>
            <a:off x="1296000" y="4590720"/>
            <a:ext cx="432000" cy="305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pt-BR" sz="1800" spc="-1" strike="noStrike">
                <a:latin typeface="Arial"/>
              </a:rPr>
              <a:t>4.</a:t>
            </a:r>
            <a:endParaRPr b="0" lang="pt-BR" sz="1800" spc="-1" strike="noStrike"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144000" y="1431720"/>
            <a:ext cx="9143280" cy="41122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pt-BR" sz="2400" spc="-1" strike="noStrike" u="sng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Exercícios 2 (manipulação de objetos)</a:t>
            </a: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1 - Crie um objeto chamado </a:t>
            </a: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z</a:t>
            </a: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que irá armazenar o valor da raiz quadrada de 12. Logo após, crie um outro objeto chamado </a:t>
            </a: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</a:t>
            </a: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que irá armazenar o logaritmo de 20 na base 10. A seguir, crie uma variável chamada </a:t>
            </a: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que irá armazenar a soma dos dois valores anteriores.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2 – Sabendo que o raio </a:t>
            </a: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</a:t>
            </a: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de um círculo é igual a 20 cm, calcular a área </a:t>
            </a:r>
            <a:r>
              <a:rPr b="1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deste círculo. 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400" spc="-1" strike="noStrike"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152280" y="532800"/>
            <a:ext cx="8743320" cy="5578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pt-BR" sz="2000" spc="-1" strike="noStrike" u="sng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Exercícios 3 (criação e cálculo com vetores)</a:t>
            </a:r>
            <a:endParaRPr b="0" lang="pt-BR" sz="2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1. Crie um vetor </a:t>
            </a:r>
            <a:r>
              <a:rPr b="1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composto pelos números 1,3,5,7,9.</a:t>
            </a:r>
            <a:endParaRPr b="0" lang="pt-BR" sz="2000" spc="-1" strike="noStrike">
              <a:latin typeface="Arial"/>
            </a:endParaRPr>
          </a:p>
          <a:p>
            <a:pPr marL="457200" indent="-456480"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 marL="457200" indent="-456480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2. Crie um vetor </a:t>
            </a:r>
            <a:r>
              <a:rPr b="1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y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composto por uma sequência de 10 até 50.</a:t>
            </a:r>
            <a:endParaRPr b="0" lang="pt-BR" sz="2000" spc="-1" strike="noStrike">
              <a:latin typeface="Arial"/>
            </a:endParaRPr>
          </a:p>
          <a:p>
            <a:pPr marL="457200" indent="-456480"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 marL="457200" indent="-456480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3. Crie um vetor </a:t>
            </a:r>
            <a:r>
              <a:rPr b="1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com a mesma sequência anterior, porém espaçado em 3.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4. Extraia comprimento do vetor, seu valor mínimo e sua média, desvio padrão e variância do último vetor do exercício 3.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5. Crie um vetor </a:t>
            </a:r>
            <a:r>
              <a:rPr b="1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z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composto pela repetição por 5 vezes da letra A e repetição por 5 vezes da letra B.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6. Crie um vetor </a:t>
            </a:r>
            <a:r>
              <a:rPr b="1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k</a:t>
            </a:r>
            <a:r>
              <a:rPr b="0" lang="pt-B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contendo 20 números aleatórios seguindo a distribuição normal, com média de 12 e desvio padrão de 3. Extraia a média e desvio padrão deste vetor para verificar se os valores são próximos do informado</a:t>
            </a:r>
            <a:endParaRPr b="0" lang="pt-BR" sz="2000" spc="-1" strike="noStrike"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1052</TotalTime>
  <Application>LibreOffice/6.0.3.2$Linux_X86_64 LibreOffice_project/00m0$Build-2</Application>
  <Company>Microsoft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2012-02-05T01:16:15Z</dcterms:created>
  <dc:creator>Mauricio</dc:creator>
  <dc:description/>
  <dc:language>pt-BR</dc:language>
  <cp:lastModifiedBy>Mauricio Camargo</cp:lastModifiedBy>
  <dcterms:modified xsi:type="dcterms:W3CDTF">2018-10-16T12:00:36Z</dcterms:modified>
  <cp:revision>53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Microsoft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10</vt:i4>
  </property>
  <property fmtid="{D5CDD505-2E9C-101B-9397-08002B2CF9AE}" pid="9" name="PresentationFormat">
    <vt:lpwstr>Apresentação na tela (4:3)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10</vt:i4>
  </property>
</Properties>
</file>