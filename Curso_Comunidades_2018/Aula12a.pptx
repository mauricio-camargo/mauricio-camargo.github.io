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4" r:id="rId7"/>
    <p:sldId id="262" r:id="rId8"/>
    <p:sldId id="263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6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78265-6F2A-47B0-AC7B-EF8F05FD4662}" type="datetimeFigureOut">
              <a:rPr lang="pt-BR" smtClean="0"/>
              <a:t>22/11/2017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B08E3F-790A-4273-A705-160EBBBBB3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9600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B08E3F-790A-4273-A705-160EBBBBB3C7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65103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0D56ED5-6CC2-4418-85CA-84DCF1EF0F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A249E6B-7C38-4D6C-9446-A57396D869A6}" type="slidenum">
              <a:rPr lang="pt-BR" altLang="pt-BR"/>
              <a:pPr/>
              <a:t>2</a:t>
            </a:fld>
            <a:endParaRPr lang="pt-BR" altLang="pt-BR"/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EFB42B12-262F-4FF7-BC03-D8A14852E9D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7247BEF0-DE32-4E67-9DFF-DD801DBFC0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794793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25067F6-FF62-4EC3-8070-EA5113C2DE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8DEBA0-53DB-4885-B3C5-AE51E485408C}" type="slidenum">
              <a:rPr lang="pt-BR" altLang="pt-BR"/>
              <a:pPr/>
              <a:t>3</a:t>
            </a:fld>
            <a:endParaRPr lang="pt-BR" altLang="pt-BR"/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09F782E8-6D9D-455C-B78B-1A8C4B532B3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D17CD9C2-31A8-4575-A24F-886C91B4C9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7308820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F0372F3-51CE-4D88-8D1B-C302EE3379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3CA909-793D-4B0D-8B58-22C7B1F5924D}" type="slidenum">
              <a:rPr lang="pt-BR" altLang="pt-BR"/>
              <a:pPr/>
              <a:t>4</a:t>
            </a:fld>
            <a:endParaRPr lang="pt-BR" altLang="pt-BR"/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0C25251F-4F38-4F01-BB50-00573C591CD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70A44971-672C-49EA-9A03-5495B0AB9B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5665189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CD0AC3E5-C203-455F-B9D5-DBCCEF8F74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010410D-B9EB-4FEC-A1A4-5BF53E5FEC7F}" type="slidenum">
              <a:rPr lang="pt-BR" altLang="pt-BR"/>
              <a:pPr/>
              <a:t>5</a:t>
            </a:fld>
            <a:endParaRPr lang="pt-BR" altLang="pt-BR"/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7C41A821-03EB-484E-BE29-90021D09D72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6EFDCAB3-C19E-4965-81C3-C3078CAD6C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6445704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1276D20-ACC1-4891-8731-42DEA2CEFF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5ECACF6-90F8-47A5-A789-EDFA6131C608}" type="slidenum">
              <a:rPr lang="pt-BR" altLang="pt-BR"/>
              <a:pPr/>
              <a:t>6</a:t>
            </a:fld>
            <a:endParaRPr lang="pt-BR" altLang="pt-BR"/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99191CA3-8369-4FE8-B356-B9B5530AE50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C3E97E26-7FEC-4B39-8BF8-F594172D80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0413039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EB532ED-C296-46E8-B852-ABA1F3039D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80105A-55B5-4E06-9D9C-C7073A6ED661}" type="slidenum">
              <a:rPr lang="pt-BR" altLang="pt-BR"/>
              <a:pPr/>
              <a:t>7</a:t>
            </a:fld>
            <a:endParaRPr lang="pt-BR" altLang="pt-BR"/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69E816C3-FB31-49FE-9952-410912D2A90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200959A4-AF5F-47A6-B17F-3BAFA4D779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0716350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3CCB3AD-CE62-4B0A-B705-2A367F01A6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63092BF-DE76-408A-9B1A-EEF57AEE7705}" type="slidenum">
              <a:rPr lang="pt-BR" altLang="pt-BR"/>
              <a:pPr/>
              <a:t>8</a:t>
            </a:fld>
            <a:endParaRPr lang="pt-BR" altLang="pt-BR"/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59C49A53-A348-470F-9496-BE493B5659F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1A9453D4-2A88-440F-93DA-5FA16DFBD9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143710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A2CAF9-D990-49F5-99F9-C755959BED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181AC9E-575D-4386-B459-0165F36DCC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0B02D57-5460-4503-816D-6871ED3F5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D170E-10A2-4685-A49D-FD3C8A86CD01}" type="datetimeFigureOut">
              <a:rPr lang="pt-BR" smtClean="0"/>
              <a:t>22/11/2017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33F2959-0F6E-4200-B957-B3EFF88CD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0D14010-15F9-409E-8551-632E9576B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1C72D-2C16-4CC3-899F-D339467685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9715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E7444D-0BB4-43B4-9807-0642A7585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B11B0B-9A04-45BC-AB61-9D92E0F5D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B4FCB4-2A0A-4904-A774-0EADC8D44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D170E-10A2-4685-A49D-FD3C8A86CD01}" type="datetimeFigureOut">
              <a:rPr lang="pt-BR" smtClean="0"/>
              <a:t>22/11/2017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81CAF8-8AF4-4203-9E59-E9A43A4F6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6583EE4-C7A8-4BC5-AA7A-E0AC28CFC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1C72D-2C16-4CC3-899F-D339467685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4420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F7DA54-EFE8-49CF-98DB-3D37801E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3CE1D6-F34B-4D0B-B16D-1AD65EE8AC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2811B3B-51C4-4534-AFA4-81BC2D448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D170E-10A2-4685-A49D-FD3C8A86CD01}" type="datetimeFigureOut">
              <a:rPr lang="pt-BR" smtClean="0"/>
              <a:t>22/11/2017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74D70F-F666-4D3D-9E88-76ED7763B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7AC8B4F-11C3-42F8-80E2-1D9982774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1C72D-2C16-4CC3-899F-D339467685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6910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10E6F3-D38B-44B9-9AC5-87766B4FB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814A2A-0A82-43EE-853F-00F367524A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96C11B9-9C33-4C16-B955-2DA3DE310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14CDCB4-B18D-49C4-8A89-BD92C905D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D170E-10A2-4685-A49D-FD3C8A86CD01}" type="datetimeFigureOut">
              <a:rPr lang="pt-BR" smtClean="0"/>
              <a:t>22/11/2017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357B340-39D2-43CA-A08B-81F35C58D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AE6591-2118-4CCA-A86B-4C1F9277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1C72D-2C16-4CC3-899F-D339467685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8264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2DCA03-7DE9-42B2-96E3-AA1445491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34BDE8B-F3A9-4B0C-9907-B618442FB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097CCC1-21D4-404D-B888-06B27535D8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DEC0208-4B37-4644-B136-9D8C6A2636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A734D79-2732-4C29-A83E-D47F89433C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421634A-2CD8-4958-9816-9BF7A5576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D170E-10A2-4685-A49D-FD3C8A86CD01}" type="datetimeFigureOut">
              <a:rPr lang="pt-BR" smtClean="0"/>
              <a:t>22/11/2017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E483559-9FDE-40EB-A9FE-6E2F2BAB9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39089FD-EBF7-432C-BAC6-594FBC49C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1C72D-2C16-4CC3-899F-D339467685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5753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58DAB4-F647-499C-94C2-BECD49EA4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E9EFA3E-456F-4C21-A19B-32D6B823A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D170E-10A2-4685-A49D-FD3C8A86CD01}" type="datetimeFigureOut">
              <a:rPr lang="pt-BR" smtClean="0"/>
              <a:t>22/11/2017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D8757AB-AB4A-4893-89D4-AA9D4CF04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BD6FA15-3A6B-490F-9B76-8C833D406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1C72D-2C16-4CC3-899F-D339467685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039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CA8E5B8-EB4C-4E49-825F-2AF4255B7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D170E-10A2-4685-A49D-FD3C8A86CD01}" type="datetimeFigureOut">
              <a:rPr lang="pt-BR" smtClean="0"/>
              <a:t>22/11/2017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5C07AA8-F743-467D-AC52-9530A42ED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36224D9-4FF3-416B-9279-6363EB668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1C72D-2C16-4CC3-899F-D339467685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24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D7D9EF-3A7A-4A4C-B532-EB22A5B80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E72F517-D99F-4B0E-B384-077716B51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3C73D54-C1BA-4B7D-8124-3B01144279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9EAD702-EB80-4A0D-B49C-E72C8782A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D170E-10A2-4685-A49D-FD3C8A86CD01}" type="datetimeFigureOut">
              <a:rPr lang="pt-BR" smtClean="0"/>
              <a:t>22/11/2017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871B450-86D3-4EF3-A268-A82DDFE3A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6DC2615-8056-4539-AC33-933B50FA0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1C72D-2C16-4CC3-899F-D339467685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3918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849BF0-9816-45FB-9A69-52E8918DB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B0BED14-F728-47DE-BB7E-258107FC40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731315B-0032-4248-8CB7-21CD0F2CB6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C4C6086-34D2-47E2-8DCA-55D83FC1F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D170E-10A2-4685-A49D-FD3C8A86CD01}" type="datetimeFigureOut">
              <a:rPr lang="pt-BR" smtClean="0"/>
              <a:t>22/11/2017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6F6D6F1-2633-4B43-A3FE-30E4A1E2E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3090351-4531-4C54-9C0E-6D11299BA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1C72D-2C16-4CC3-899F-D339467685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352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ADD471-6F93-4F59-A5D6-41AF7825E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A0133C9-1D8F-44B5-A8CB-ECF1CB7852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419526-6AD5-4931-A0D5-C65B3DA2D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D170E-10A2-4685-A49D-FD3C8A86CD01}" type="datetimeFigureOut">
              <a:rPr lang="pt-BR" smtClean="0"/>
              <a:t>22/11/2017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9D1C44-AB35-4A3D-937F-0BB3DC3AE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4BE152B-0875-4A21-BAE2-0EF3B906F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1C72D-2C16-4CC3-899F-D339467685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5219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6E54140-2905-4E7B-8541-9B5F3A2D16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D814FCA-1A41-4253-9289-18E216EA59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8150A6-24C7-44D6-9661-E284577E9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D170E-10A2-4685-A49D-FD3C8A86CD01}" type="datetimeFigureOut">
              <a:rPr lang="pt-BR" smtClean="0"/>
              <a:t>22/11/2017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71498D1-A727-4D3D-8A14-6BA0ADE26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3B0CEF0-07D8-4D4B-ABF8-7CA513F46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1C72D-2C16-4CC3-899F-D339467685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64263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74D3CC16-ED8D-4D73-833E-4F374D499546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152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624121C-2E07-42FD-83D5-547A1EF17D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B6FE1CD-64C5-4CBD-9B4D-43064D72F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A68587D-2241-4CF1-9C0D-0A207D143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5DDBB832-3AF9-4E0E-8469-762C4924D1FE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965548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D6A86B6-2483-4A5D-B81A-9386F7628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9085C79-FCE9-4557-8EEA-DC4EBBBBE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71CAC3-1C45-486F-96E5-C0A301BDEA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8D170E-10A2-4685-A49D-FD3C8A86CD01}" type="datetimeFigureOut">
              <a:rPr lang="pt-BR" smtClean="0"/>
              <a:t>22/11/2017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6750070-465A-43BF-BBAD-CFFF96FDF0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DDA722-4528-4332-9E94-8A792D5AD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D1C72D-2C16-4CC3-899F-D339467685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9600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A5701872-1F37-4339-80C0-C5EA82F79D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334" y="-1"/>
            <a:ext cx="7468571" cy="10043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>
            <a:lvl1pPr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pt-BR" sz="3600" b="1" u="sng" dirty="0" err="1"/>
              <a:t>Passos</a:t>
            </a:r>
            <a:r>
              <a:rPr lang="en-US" altLang="pt-BR" sz="3600" b="1" u="sng" dirty="0"/>
              <a:t> para as </a:t>
            </a:r>
            <a:r>
              <a:rPr lang="en-US" altLang="pt-BR" sz="3600" b="1" u="sng" dirty="0" err="1"/>
              <a:t>análises</a:t>
            </a:r>
            <a:endParaRPr lang="en-US" altLang="pt-BR" sz="3600" b="1" u="s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56F1E5-5BFE-4659-9755-9D1DDCF4A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414" y="1290638"/>
            <a:ext cx="2348401" cy="828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457200" indent="-457200" algn="l" eaLnBrk="0" hangingPunct="0">
              <a:buAutoNum type="arabicPeriod"/>
            </a:pPr>
            <a:r>
              <a:rPr lang="en-US" altLang="pt-BR" sz="2400" b="1" dirty="0" err="1">
                <a:latin typeface="Times New Roman" panose="02020603050405020304" pitchFamily="18" charset="0"/>
              </a:rPr>
              <a:t>Matriz</a:t>
            </a:r>
            <a:r>
              <a:rPr lang="en-US" altLang="pt-BR" sz="2400" b="1" dirty="0">
                <a:latin typeface="Times New Roman" panose="02020603050405020304" pitchFamily="18" charset="0"/>
              </a:rPr>
              <a:t> de </a:t>
            </a:r>
          </a:p>
          <a:p>
            <a:pPr algn="l" eaLnBrk="0" hangingPunct="0"/>
            <a:r>
              <a:rPr lang="en-US" altLang="pt-BR" sz="2400" b="1" dirty="0">
                <a:latin typeface="Times New Roman" panose="02020603050405020304" pitchFamily="18" charset="0"/>
              </a:rPr>
              <a:t>      dados </a:t>
            </a:r>
            <a:r>
              <a:rPr lang="en-US" altLang="pt-BR" sz="2400" b="1" dirty="0" err="1">
                <a:latin typeface="Times New Roman" panose="02020603050405020304" pitchFamily="18" charset="0"/>
              </a:rPr>
              <a:t>brutos</a:t>
            </a:r>
            <a:endParaRPr lang="en-US" altLang="pt-BR" sz="2400" b="1" dirty="0">
              <a:latin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5E88C8-A40F-4C04-BE32-E3EEDDFA3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670" y="2606876"/>
            <a:ext cx="1371600" cy="17526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7" name="Line 6">
            <a:extLst>
              <a:ext uri="{FF2B5EF4-FFF2-40B4-BE49-F238E27FC236}">
                <a16:creationId xmlns:a16="http://schemas.microsoft.com/office/drawing/2014/main" id="{16858B89-9863-4410-929D-F720F5BD16D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4583" y="2721176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8" name="Line 7">
            <a:extLst>
              <a:ext uri="{FF2B5EF4-FFF2-40B4-BE49-F238E27FC236}">
                <a16:creationId xmlns:a16="http://schemas.microsoft.com/office/drawing/2014/main" id="{D2E051E3-B5BF-4CC1-967E-33589AC60277}"/>
              </a:ext>
            </a:extLst>
          </p:cNvPr>
          <p:cNvSpPr>
            <a:spLocks noChangeShapeType="1"/>
          </p:cNvSpPr>
          <p:nvPr/>
        </p:nvSpPr>
        <p:spPr bwMode="auto">
          <a:xfrm>
            <a:off x="1322233" y="2721176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9" name="Line 8">
            <a:extLst>
              <a:ext uri="{FF2B5EF4-FFF2-40B4-BE49-F238E27FC236}">
                <a16:creationId xmlns:a16="http://schemas.microsoft.com/office/drawing/2014/main" id="{D535E1FB-9528-44EB-A5ED-A05DF2FD696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69883" y="2721176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0" name="Line 9">
            <a:extLst>
              <a:ext uri="{FF2B5EF4-FFF2-40B4-BE49-F238E27FC236}">
                <a16:creationId xmlns:a16="http://schemas.microsoft.com/office/drawing/2014/main" id="{7DF6974A-28B0-4007-A4C3-8250BD582687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7533" y="2721176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B90DF967-7A24-47AF-A003-ED58C3EB7205}"/>
              </a:ext>
            </a:extLst>
          </p:cNvPr>
          <p:cNvSpPr>
            <a:spLocks noChangeShapeType="1"/>
          </p:cNvSpPr>
          <p:nvPr/>
        </p:nvSpPr>
        <p:spPr bwMode="auto">
          <a:xfrm>
            <a:off x="2065183" y="2721176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49BAD6B1-2D5E-4DF5-8161-12461BC8ED35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10511" y="3087095"/>
            <a:ext cx="16303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pt-BR" sz="2400" dirty="0" err="1"/>
              <a:t>Amostras</a:t>
            </a:r>
            <a:endParaRPr lang="en-US" altLang="pt-BR" sz="2400" dirty="0"/>
          </a:p>
        </p:txBody>
      </p:sp>
      <p:sp>
        <p:nvSpPr>
          <p:cNvPr id="13" name="Line 13">
            <a:extLst>
              <a:ext uri="{FF2B5EF4-FFF2-40B4-BE49-F238E27FC236}">
                <a16:creationId xmlns:a16="http://schemas.microsoft.com/office/drawing/2014/main" id="{95BA0E1F-B9BE-4A16-B7B5-DD3F77DA606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01910" y="3338896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grpSp>
        <p:nvGrpSpPr>
          <p:cNvPr id="14" name="Group 14">
            <a:extLst>
              <a:ext uri="{FF2B5EF4-FFF2-40B4-BE49-F238E27FC236}">
                <a16:creationId xmlns:a16="http://schemas.microsoft.com/office/drawing/2014/main" id="{DD22E413-E3B1-443F-B8A6-66D20814C2FE}"/>
              </a:ext>
            </a:extLst>
          </p:cNvPr>
          <p:cNvGrpSpPr>
            <a:grpSpLocks/>
          </p:cNvGrpSpPr>
          <p:nvPr/>
        </p:nvGrpSpPr>
        <p:grpSpPr bwMode="auto">
          <a:xfrm>
            <a:off x="3944910" y="2576896"/>
            <a:ext cx="1295400" cy="1295400"/>
            <a:chOff x="2400" y="960"/>
            <a:chExt cx="816" cy="816"/>
          </a:xfrm>
        </p:grpSpPr>
        <p:sp>
          <p:nvSpPr>
            <p:cNvPr id="15" name="AutoShape 15">
              <a:extLst>
                <a:ext uri="{FF2B5EF4-FFF2-40B4-BE49-F238E27FC236}">
                  <a16:creationId xmlns:a16="http://schemas.microsoft.com/office/drawing/2014/main" id="{76C355B8-17B7-4948-8068-16886A272D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960"/>
              <a:ext cx="816" cy="816"/>
            </a:xfrm>
            <a:prstGeom prst="rtTriangl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6" name="Oval 16">
              <a:extLst>
                <a:ext uri="{FF2B5EF4-FFF2-40B4-BE49-F238E27FC236}">
                  <a16:creationId xmlns:a16="http://schemas.microsoft.com/office/drawing/2014/main" id="{801A0423-F909-4D45-955A-B1E8838A9D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120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7" name="Oval 17">
              <a:extLst>
                <a:ext uri="{FF2B5EF4-FFF2-40B4-BE49-F238E27FC236}">
                  <a16:creationId xmlns:a16="http://schemas.microsoft.com/office/drawing/2014/main" id="{029D08E4-90F8-4874-A58E-C4E8B129A7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134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8" name="Oval 18">
              <a:extLst>
                <a:ext uri="{FF2B5EF4-FFF2-40B4-BE49-F238E27FC236}">
                  <a16:creationId xmlns:a16="http://schemas.microsoft.com/office/drawing/2014/main" id="{78653B8D-F810-4EAD-B579-504E10E451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34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9" name="Oval 19">
              <a:extLst>
                <a:ext uri="{FF2B5EF4-FFF2-40B4-BE49-F238E27FC236}">
                  <a16:creationId xmlns:a16="http://schemas.microsoft.com/office/drawing/2014/main" id="{8F45ABD1-56FD-4489-A435-54912E838A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148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0" name="Oval 20">
              <a:extLst>
                <a:ext uri="{FF2B5EF4-FFF2-40B4-BE49-F238E27FC236}">
                  <a16:creationId xmlns:a16="http://schemas.microsoft.com/office/drawing/2014/main" id="{0DE9B586-8313-48FA-9E4A-8AF9FDCEB3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48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1" name="Oval 21">
              <a:extLst>
                <a:ext uri="{FF2B5EF4-FFF2-40B4-BE49-F238E27FC236}">
                  <a16:creationId xmlns:a16="http://schemas.microsoft.com/office/drawing/2014/main" id="{8FBF426E-8815-4CAD-BBC0-4D10AFCFD6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163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2" name="Oval 22">
              <a:extLst>
                <a:ext uri="{FF2B5EF4-FFF2-40B4-BE49-F238E27FC236}">
                  <a16:creationId xmlns:a16="http://schemas.microsoft.com/office/drawing/2014/main" id="{33136744-A332-4D8A-A894-18A63A9424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63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3" name="Oval 23">
              <a:extLst>
                <a:ext uri="{FF2B5EF4-FFF2-40B4-BE49-F238E27FC236}">
                  <a16:creationId xmlns:a16="http://schemas.microsoft.com/office/drawing/2014/main" id="{EBC81BAF-5AC4-4CCE-B555-44895C1083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148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4" name="Oval 24">
              <a:extLst>
                <a:ext uri="{FF2B5EF4-FFF2-40B4-BE49-F238E27FC236}">
                  <a16:creationId xmlns:a16="http://schemas.microsoft.com/office/drawing/2014/main" id="{BD437E08-FBCD-47D0-A4E8-166081775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163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5" name="Oval 25">
              <a:extLst>
                <a:ext uri="{FF2B5EF4-FFF2-40B4-BE49-F238E27FC236}">
                  <a16:creationId xmlns:a16="http://schemas.microsoft.com/office/drawing/2014/main" id="{57D3E708-A0D4-4A16-96C1-B6C7BCCAD4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163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27" name="Line 27">
            <a:extLst>
              <a:ext uri="{FF2B5EF4-FFF2-40B4-BE49-F238E27FC236}">
                <a16:creationId xmlns:a16="http://schemas.microsoft.com/office/drawing/2014/main" id="{9277C5CA-71ED-4EAD-87E5-9A3385A40A8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16510" y="2848131"/>
            <a:ext cx="2718218" cy="49076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0B920BC1-17AF-4435-8123-589063C14768}"/>
              </a:ext>
            </a:extLst>
          </p:cNvPr>
          <p:cNvGrpSpPr>
            <a:grpSpLocks/>
          </p:cNvGrpSpPr>
          <p:nvPr/>
        </p:nvGrpSpPr>
        <p:grpSpPr bwMode="auto">
          <a:xfrm>
            <a:off x="8064702" y="4238299"/>
            <a:ext cx="2057400" cy="1905000"/>
            <a:chOff x="3936" y="2304"/>
            <a:chExt cx="1296" cy="1200"/>
          </a:xfrm>
        </p:grpSpPr>
        <p:sp>
          <p:nvSpPr>
            <p:cNvPr id="29" name="Rectangle 29">
              <a:extLst>
                <a:ext uri="{FF2B5EF4-FFF2-40B4-BE49-F238E27FC236}">
                  <a16:creationId xmlns:a16="http://schemas.microsoft.com/office/drawing/2014/main" id="{5053B8AD-4240-4F06-847C-548C68A618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304"/>
              <a:ext cx="1296" cy="12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0" name="Text Box 30">
              <a:extLst>
                <a:ext uri="{FF2B5EF4-FFF2-40B4-BE49-F238E27FC236}">
                  <a16:creationId xmlns:a16="http://schemas.microsoft.com/office/drawing/2014/main" id="{D4D366C7-8E47-46F9-8941-F5F516E9C9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2544"/>
              <a:ext cx="3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pt-BR" sz="1600" b="1"/>
                <a:t>a</a:t>
              </a:r>
            </a:p>
          </p:txBody>
        </p:sp>
        <p:sp>
          <p:nvSpPr>
            <p:cNvPr id="31" name="Text Box 31">
              <a:extLst>
                <a:ext uri="{FF2B5EF4-FFF2-40B4-BE49-F238E27FC236}">
                  <a16:creationId xmlns:a16="http://schemas.microsoft.com/office/drawing/2014/main" id="{1976848A-9662-4928-BF13-260A8EE7C6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2640"/>
              <a:ext cx="3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pt-BR" sz="1600" b="1"/>
                <a:t>a</a:t>
              </a:r>
            </a:p>
          </p:txBody>
        </p:sp>
        <p:sp>
          <p:nvSpPr>
            <p:cNvPr id="32" name="Text Box 32">
              <a:extLst>
                <a:ext uri="{FF2B5EF4-FFF2-40B4-BE49-F238E27FC236}">
                  <a16:creationId xmlns:a16="http://schemas.microsoft.com/office/drawing/2014/main" id="{D6892A48-60FE-41B6-95D3-415B278196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2496"/>
              <a:ext cx="3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pt-BR" sz="1600" b="1"/>
                <a:t>a</a:t>
              </a:r>
            </a:p>
          </p:txBody>
        </p:sp>
        <p:sp>
          <p:nvSpPr>
            <p:cNvPr id="33" name="Text Box 33">
              <a:extLst>
                <a:ext uri="{FF2B5EF4-FFF2-40B4-BE49-F238E27FC236}">
                  <a16:creationId xmlns:a16="http://schemas.microsoft.com/office/drawing/2014/main" id="{C1E06BBF-2DAB-4C8B-8F6D-B2E30B42BA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2592"/>
              <a:ext cx="3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pt-BR" sz="1600" b="1"/>
                <a:t>b</a:t>
              </a:r>
            </a:p>
          </p:txBody>
        </p:sp>
        <p:sp>
          <p:nvSpPr>
            <p:cNvPr id="34" name="Text Box 34">
              <a:extLst>
                <a:ext uri="{FF2B5EF4-FFF2-40B4-BE49-F238E27FC236}">
                  <a16:creationId xmlns:a16="http://schemas.microsoft.com/office/drawing/2014/main" id="{CCD48AF7-1AA0-45F7-B4F1-D6989870D7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2448"/>
              <a:ext cx="3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pt-BR" sz="1600" b="1"/>
                <a:t>b</a:t>
              </a:r>
            </a:p>
          </p:txBody>
        </p:sp>
        <p:sp>
          <p:nvSpPr>
            <p:cNvPr id="35" name="Text Box 35">
              <a:extLst>
                <a:ext uri="{FF2B5EF4-FFF2-40B4-BE49-F238E27FC236}">
                  <a16:creationId xmlns:a16="http://schemas.microsoft.com/office/drawing/2014/main" id="{96763C42-83B7-4BDB-B36F-051A8D5179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2544"/>
              <a:ext cx="3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pt-BR" sz="1600" b="1"/>
                <a:t>b</a:t>
              </a:r>
            </a:p>
          </p:txBody>
        </p:sp>
        <p:sp>
          <p:nvSpPr>
            <p:cNvPr id="36" name="Text Box 36">
              <a:extLst>
                <a:ext uri="{FF2B5EF4-FFF2-40B4-BE49-F238E27FC236}">
                  <a16:creationId xmlns:a16="http://schemas.microsoft.com/office/drawing/2014/main" id="{2264A3C3-DB67-44AE-9688-AF8412B790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2" y="2976"/>
              <a:ext cx="3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pt-BR" sz="1600" b="1"/>
                <a:t>c</a:t>
              </a:r>
            </a:p>
          </p:txBody>
        </p:sp>
        <p:sp>
          <p:nvSpPr>
            <p:cNvPr id="37" name="Text Box 37">
              <a:extLst>
                <a:ext uri="{FF2B5EF4-FFF2-40B4-BE49-F238E27FC236}">
                  <a16:creationId xmlns:a16="http://schemas.microsoft.com/office/drawing/2014/main" id="{48E87E2B-3C85-47CC-848C-442EBAA234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3072"/>
              <a:ext cx="3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pt-BR" sz="1600" b="1"/>
                <a:t>c</a:t>
              </a:r>
            </a:p>
          </p:txBody>
        </p:sp>
        <p:sp>
          <p:nvSpPr>
            <p:cNvPr id="38" name="Text Box 38">
              <a:extLst>
                <a:ext uri="{FF2B5EF4-FFF2-40B4-BE49-F238E27FC236}">
                  <a16:creationId xmlns:a16="http://schemas.microsoft.com/office/drawing/2014/main" id="{FB50B218-DFF6-4100-913C-7072AC4510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8" y="3216"/>
              <a:ext cx="3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pt-BR" sz="1600" b="1"/>
                <a:t>c</a:t>
              </a:r>
            </a:p>
          </p:txBody>
        </p:sp>
      </p:grpSp>
      <p:sp>
        <p:nvSpPr>
          <p:cNvPr id="41" name="Text Box 11">
            <a:extLst>
              <a:ext uri="{FF2B5EF4-FFF2-40B4-BE49-F238E27FC236}">
                <a16:creationId xmlns:a16="http://schemas.microsoft.com/office/drawing/2014/main" id="{EFEFC29E-685F-41F6-931E-106A9237D7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895" y="2117204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pt-BR" sz="2400" dirty="0" err="1"/>
              <a:t>Espécies</a:t>
            </a:r>
            <a:endParaRPr lang="en-US" altLang="pt-BR" sz="2400" dirty="0"/>
          </a:p>
        </p:txBody>
      </p:sp>
      <p:sp>
        <p:nvSpPr>
          <p:cNvPr id="42" name="Rectangle 4">
            <a:extLst>
              <a:ext uri="{FF2B5EF4-FFF2-40B4-BE49-F238E27FC236}">
                <a16:creationId xmlns:a16="http://schemas.microsoft.com/office/drawing/2014/main" id="{9DC72E6D-5FCD-4502-8282-DFE7F064B0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5068" y="1338107"/>
            <a:ext cx="3426452" cy="828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pt-BR" sz="2400" b="1" dirty="0">
                <a:latin typeface="Times New Roman" panose="02020603050405020304" pitchFamily="18" charset="0"/>
              </a:rPr>
              <a:t>2. </a:t>
            </a:r>
            <a:r>
              <a:rPr lang="en-US" altLang="pt-BR" sz="2400" b="1" dirty="0" err="1">
                <a:latin typeface="Times New Roman" panose="02020603050405020304" pitchFamily="18" charset="0"/>
              </a:rPr>
              <a:t>Matriz</a:t>
            </a:r>
            <a:r>
              <a:rPr lang="en-US" altLang="pt-BR" sz="2400" b="1" dirty="0">
                <a:latin typeface="Times New Roman" panose="02020603050405020304" pitchFamily="18" charset="0"/>
              </a:rPr>
              <a:t> de </a:t>
            </a:r>
            <a:r>
              <a:rPr lang="en-US" altLang="pt-BR" sz="2400" b="1" dirty="0" err="1">
                <a:latin typeface="Times New Roman" panose="02020603050405020304" pitchFamily="18" charset="0"/>
              </a:rPr>
              <a:t>parecença</a:t>
            </a:r>
            <a:endParaRPr lang="en-US" altLang="pt-BR" sz="2400" b="1" dirty="0">
              <a:latin typeface="Times New Roman" panose="02020603050405020304" pitchFamily="18" charset="0"/>
            </a:endParaRPr>
          </a:p>
          <a:p>
            <a:pPr algn="l" eaLnBrk="0" hangingPunct="0"/>
            <a:r>
              <a:rPr lang="en-US" altLang="pt-BR" sz="2400" b="1" dirty="0">
                <a:latin typeface="Times New Roman" panose="02020603050405020304" pitchFamily="18" charset="0"/>
              </a:rPr>
              <a:t>Entre </a:t>
            </a:r>
            <a:r>
              <a:rPr lang="en-US" altLang="pt-BR" sz="2400" b="1" dirty="0" err="1">
                <a:latin typeface="Times New Roman" panose="02020603050405020304" pitchFamily="18" charset="0"/>
              </a:rPr>
              <a:t>objetos</a:t>
            </a:r>
            <a:r>
              <a:rPr lang="en-US" altLang="pt-BR" sz="2400" b="1" dirty="0">
                <a:latin typeface="Times New Roman" panose="02020603050405020304" pitchFamily="18" charset="0"/>
              </a:rPr>
              <a:t> (</a:t>
            </a:r>
            <a:r>
              <a:rPr lang="en-US" altLang="pt-BR" sz="2400" b="1" dirty="0" err="1">
                <a:latin typeface="Times New Roman" panose="02020603050405020304" pitchFamily="18" charset="0"/>
              </a:rPr>
              <a:t>modo</a:t>
            </a:r>
            <a:r>
              <a:rPr lang="en-US" altLang="pt-BR" sz="2400" b="1" dirty="0">
                <a:latin typeface="Times New Roman" panose="02020603050405020304" pitchFamily="18" charset="0"/>
              </a:rPr>
              <a:t>-Q)</a:t>
            </a:r>
          </a:p>
        </p:txBody>
      </p:sp>
      <p:sp>
        <p:nvSpPr>
          <p:cNvPr id="43" name="Line 12">
            <a:extLst>
              <a:ext uri="{FF2B5EF4-FFF2-40B4-BE49-F238E27FC236}">
                <a16:creationId xmlns:a16="http://schemas.microsoft.com/office/drawing/2014/main" id="{1C7DA4BC-CA9D-446A-96A4-D34B931A4D61}"/>
              </a:ext>
            </a:extLst>
          </p:cNvPr>
          <p:cNvSpPr>
            <a:spLocks noChangeShapeType="1"/>
          </p:cNvSpPr>
          <p:nvPr/>
        </p:nvSpPr>
        <p:spPr bwMode="auto">
          <a:xfrm>
            <a:off x="8478185" y="2236024"/>
            <a:ext cx="0" cy="2730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4" name="Line 13">
            <a:extLst>
              <a:ext uri="{FF2B5EF4-FFF2-40B4-BE49-F238E27FC236}">
                <a16:creationId xmlns:a16="http://schemas.microsoft.com/office/drawing/2014/main" id="{F73AC62F-9FA8-4063-AF9D-69D1F221FA13}"/>
              </a:ext>
            </a:extLst>
          </p:cNvPr>
          <p:cNvSpPr>
            <a:spLocks noChangeShapeType="1"/>
          </p:cNvSpPr>
          <p:nvPr/>
        </p:nvSpPr>
        <p:spPr bwMode="auto">
          <a:xfrm>
            <a:off x="8478185" y="2540824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5" name="Line 14">
            <a:extLst>
              <a:ext uri="{FF2B5EF4-FFF2-40B4-BE49-F238E27FC236}">
                <a16:creationId xmlns:a16="http://schemas.microsoft.com/office/drawing/2014/main" id="{06CCAAFF-98C9-44E2-A9FE-A56C9471B29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06785" y="2236024"/>
            <a:ext cx="0" cy="2841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6" name="Line 15">
            <a:extLst>
              <a:ext uri="{FF2B5EF4-FFF2-40B4-BE49-F238E27FC236}">
                <a16:creationId xmlns:a16="http://schemas.microsoft.com/office/drawing/2014/main" id="{13B5BECF-F6CE-46C5-B763-F077655E7D81}"/>
              </a:ext>
            </a:extLst>
          </p:cNvPr>
          <p:cNvSpPr>
            <a:spLocks noChangeShapeType="1"/>
          </p:cNvSpPr>
          <p:nvPr/>
        </p:nvSpPr>
        <p:spPr bwMode="auto">
          <a:xfrm>
            <a:off x="9011585" y="2540824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7" name="Line 16">
            <a:extLst>
              <a:ext uri="{FF2B5EF4-FFF2-40B4-BE49-F238E27FC236}">
                <a16:creationId xmlns:a16="http://schemas.microsoft.com/office/drawing/2014/main" id="{53557C5E-EF62-44A4-8628-9DF0CFF6939A}"/>
              </a:ext>
            </a:extLst>
          </p:cNvPr>
          <p:cNvSpPr>
            <a:spLocks noChangeShapeType="1"/>
          </p:cNvSpPr>
          <p:nvPr/>
        </p:nvSpPr>
        <p:spPr bwMode="auto">
          <a:xfrm>
            <a:off x="9203673" y="2540824"/>
            <a:ext cx="4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8" name="Line 17">
            <a:extLst>
              <a:ext uri="{FF2B5EF4-FFF2-40B4-BE49-F238E27FC236}">
                <a16:creationId xmlns:a16="http://schemas.microsoft.com/office/drawing/2014/main" id="{63B1ECE9-FEA3-4855-B349-CCED9742A3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011585" y="2236024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9" name="Line 18">
            <a:extLst>
              <a:ext uri="{FF2B5EF4-FFF2-40B4-BE49-F238E27FC236}">
                <a16:creationId xmlns:a16="http://schemas.microsoft.com/office/drawing/2014/main" id="{6CA20BC7-011C-4BD7-90E2-F8C774D45F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40185" y="2209037"/>
            <a:ext cx="0" cy="3317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50" name="Line 19">
            <a:extLst>
              <a:ext uri="{FF2B5EF4-FFF2-40B4-BE49-F238E27FC236}">
                <a16:creationId xmlns:a16="http://schemas.microsoft.com/office/drawing/2014/main" id="{722EED0B-59F4-4B7D-A42E-C5F6942444B0}"/>
              </a:ext>
            </a:extLst>
          </p:cNvPr>
          <p:cNvSpPr>
            <a:spLocks noChangeShapeType="1"/>
          </p:cNvSpPr>
          <p:nvPr/>
        </p:nvSpPr>
        <p:spPr bwMode="auto">
          <a:xfrm>
            <a:off x="9697385" y="2236024"/>
            <a:ext cx="0" cy="6143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51" name="Line 20">
            <a:extLst>
              <a:ext uri="{FF2B5EF4-FFF2-40B4-BE49-F238E27FC236}">
                <a16:creationId xmlns:a16="http://schemas.microsoft.com/office/drawing/2014/main" id="{605D65F1-32C4-411A-8DA3-CF6E6F9DA3C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163985" y="2845624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52" name="Line 21">
            <a:extLst>
              <a:ext uri="{FF2B5EF4-FFF2-40B4-BE49-F238E27FC236}">
                <a16:creationId xmlns:a16="http://schemas.microsoft.com/office/drawing/2014/main" id="{ED361F46-6230-453D-B1B7-69CF8993C73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163985" y="2540824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53" name="Line 22">
            <a:extLst>
              <a:ext uri="{FF2B5EF4-FFF2-40B4-BE49-F238E27FC236}">
                <a16:creationId xmlns:a16="http://schemas.microsoft.com/office/drawing/2014/main" id="{0FC82B04-65D9-4E2E-89C3-667D175793A9}"/>
              </a:ext>
            </a:extLst>
          </p:cNvPr>
          <p:cNvSpPr>
            <a:spLocks noChangeShapeType="1"/>
          </p:cNvSpPr>
          <p:nvPr/>
        </p:nvSpPr>
        <p:spPr bwMode="auto">
          <a:xfrm>
            <a:off x="8630585" y="2540824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54" name="Line 23">
            <a:extLst>
              <a:ext uri="{FF2B5EF4-FFF2-40B4-BE49-F238E27FC236}">
                <a16:creationId xmlns:a16="http://schemas.microsoft.com/office/drawing/2014/main" id="{5E01935B-6B03-41DF-B8FD-BC04D30BFCCF}"/>
              </a:ext>
            </a:extLst>
          </p:cNvPr>
          <p:cNvSpPr>
            <a:spLocks noChangeShapeType="1"/>
          </p:cNvSpPr>
          <p:nvPr/>
        </p:nvSpPr>
        <p:spPr bwMode="auto">
          <a:xfrm>
            <a:off x="8630585" y="3226624"/>
            <a:ext cx="7985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55" name="Line 24">
            <a:extLst>
              <a:ext uri="{FF2B5EF4-FFF2-40B4-BE49-F238E27FC236}">
                <a16:creationId xmlns:a16="http://schemas.microsoft.com/office/drawing/2014/main" id="{21CDB344-C174-49EB-BE70-FFBB0E7283D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392585" y="2818637"/>
            <a:ext cx="0" cy="4365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56" name="Line 25">
            <a:extLst>
              <a:ext uri="{FF2B5EF4-FFF2-40B4-BE49-F238E27FC236}">
                <a16:creationId xmlns:a16="http://schemas.microsoft.com/office/drawing/2014/main" id="{57F9B891-3B5B-4830-B6F3-0A9BA106FA22}"/>
              </a:ext>
            </a:extLst>
          </p:cNvPr>
          <p:cNvSpPr>
            <a:spLocks noChangeShapeType="1"/>
          </p:cNvSpPr>
          <p:nvPr/>
        </p:nvSpPr>
        <p:spPr bwMode="auto">
          <a:xfrm>
            <a:off x="9011585" y="3266312"/>
            <a:ext cx="0" cy="2333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57" name="Rectangle 4">
            <a:extLst>
              <a:ext uri="{FF2B5EF4-FFF2-40B4-BE49-F238E27FC236}">
                <a16:creationId xmlns:a16="http://schemas.microsoft.com/office/drawing/2014/main" id="{33715DDC-6321-49EB-8EA7-54DAE21A4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9881" y="1355596"/>
            <a:ext cx="4045980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pt-BR" sz="2400" b="1" dirty="0">
                <a:latin typeface="Times New Roman" panose="02020603050405020304" pitchFamily="18" charset="0"/>
              </a:rPr>
              <a:t>3. </a:t>
            </a:r>
            <a:r>
              <a:rPr lang="en-US" altLang="pt-BR" sz="2400" b="1" dirty="0" err="1">
                <a:latin typeface="Times New Roman" panose="02020603050405020304" pitchFamily="18" charset="0"/>
              </a:rPr>
              <a:t>Classificação</a:t>
            </a:r>
            <a:r>
              <a:rPr lang="pt-BR" altLang="pt-BR" sz="2400" b="1" dirty="0">
                <a:latin typeface="Times New Roman" panose="02020603050405020304" pitchFamily="18" charset="0"/>
              </a:rPr>
              <a:t> </a:t>
            </a:r>
            <a:r>
              <a:rPr lang="en-US" altLang="pt-BR" sz="2400" b="1" dirty="0" err="1">
                <a:latin typeface="Times New Roman" panose="02020603050405020304" pitchFamily="18" charset="0"/>
              </a:rPr>
              <a:t>ou</a:t>
            </a:r>
            <a:r>
              <a:rPr lang="en-US" altLang="pt-BR" sz="2400" b="1" dirty="0">
                <a:latin typeface="Times New Roman" panose="02020603050405020304" pitchFamily="18" charset="0"/>
              </a:rPr>
              <a:t> </a:t>
            </a:r>
            <a:r>
              <a:rPr lang="en-US" altLang="pt-BR" sz="2400" b="1" dirty="0" err="1">
                <a:latin typeface="Times New Roman" panose="02020603050405020304" pitchFamily="18" charset="0"/>
              </a:rPr>
              <a:t>ordenação</a:t>
            </a:r>
            <a:endParaRPr lang="en-US" altLang="pt-BR" sz="2400" b="1" dirty="0">
              <a:latin typeface="Times New Roman" panose="02020603050405020304" pitchFamily="18" charset="0"/>
            </a:endParaRPr>
          </a:p>
        </p:txBody>
      </p:sp>
      <p:sp>
        <p:nvSpPr>
          <p:cNvPr id="58" name="Line 27">
            <a:extLst>
              <a:ext uri="{FF2B5EF4-FFF2-40B4-BE49-F238E27FC236}">
                <a16:creationId xmlns:a16="http://schemas.microsoft.com/office/drawing/2014/main" id="{A49EC31D-ADE9-47B9-8075-134A2F8B0D7C}"/>
              </a:ext>
            </a:extLst>
          </p:cNvPr>
          <p:cNvSpPr>
            <a:spLocks noChangeShapeType="1"/>
          </p:cNvSpPr>
          <p:nvPr/>
        </p:nvSpPr>
        <p:spPr bwMode="auto">
          <a:xfrm>
            <a:off x="5306518" y="3372786"/>
            <a:ext cx="2503357" cy="1723869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9645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 animBg="1"/>
      <p:bldP spid="27" grpId="0" animBg="1"/>
      <p:bldP spid="41" grpId="0"/>
      <p:bldP spid="42" grpId="0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/>
      <p:bldP spid="5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Text Box 5">
            <a:extLst>
              <a:ext uri="{FF2B5EF4-FFF2-40B4-BE49-F238E27FC236}">
                <a16:creationId xmlns:a16="http://schemas.microsoft.com/office/drawing/2014/main" id="{0CE5FA73-B072-4249-9184-3363793D9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908050"/>
            <a:ext cx="8893175" cy="5035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pt-BR" altLang="pt-BR" b="1" u="sng" dirty="0"/>
              <a:t>MEDIDAS DE ASSOCIAÇÃO OU PARECENÇA</a:t>
            </a:r>
          </a:p>
          <a:p>
            <a:endParaRPr lang="pt-BR" altLang="pt-BR" b="1" u="sng" dirty="0"/>
          </a:p>
          <a:p>
            <a:pPr algn="l"/>
            <a:r>
              <a:rPr lang="pt-BR" altLang="pt-BR" dirty="0"/>
              <a:t>Definem a relação entre cada par de objetos (amostras).</a:t>
            </a:r>
          </a:p>
          <a:p>
            <a:pPr algn="l"/>
            <a:endParaRPr lang="pt-BR" altLang="pt-BR" dirty="0"/>
          </a:p>
          <a:p>
            <a:pPr algn="l"/>
            <a:r>
              <a:rPr lang="pt-BR" altLang="pt-BR" dirty="0"/>
              <a:t>Existem três tipos de medidas de associação:</a:t>
            </a:r>
          </a:p>
          <a:p>
            <a:pPr algn="l"/>
            <a:r>
              <a:rPr lang="pt-BR" altLang="pt-BR" dirty="0"/>
              <a:t>	- Distância Euclidiana (usada para dados ambientais)</a:t>
            </a:r>
          </a:p>
          <a:p>
            <a:pPr algn="l"/>
            <a:r>
              <a:rPr lang="pt-BR" altLang="pt-BR" dirty="0"/>
              <a:t>	- Similaridade</a:t>
            </a:r>
          </a:p>
          <a:p>
            <a:pPr algn="l"/>
            <a:r>
              <a:rPr lang="pt-BR" altLang="pt-BR" dirty="0"/>
              <a:t>	- Dissimilaridade</a:t>
            </a:r>
          </a:p>
          <a:p>
            <a:pPr algn="l"/>
            <a:endParaRPr lang="pt-BR" altLang="pt-BR" dirty="0"/>
          </a:p>
          <a:p>
            <a:pPr algn="l"/>
            <a:r>
              <a:rPr lang="pt-BR" altLang="pt-BR" dirty="0"/>
              <a:t>Distância Euclidiana no quadro.</a:t>
            </a:r>
          </a:p>
          <a:p>
            <a:pPr algn="l"/>
            <a:endParaRPr lang="pt-BR" altLang="pt-BR" dirty="0"/>
          </a:p>
          <a:p>
            <a:pPr algn="l"/>
            <a:endParaRPr lang="pt-BR" altLang="pt-BR" dirty="0"/>
          </a:p>
          <a:p>
            <a:pPr algn="l"/>
            <a:r>
              <a:rPr lang="pt-BR" altLang="pt-BR" dirty="0"/>
              <a:t>A medidas de similaridade e dissimilaridade definem a locação das amostras no “espaço ecológico” em oposição ao espaço geográfico. Podem ser:</a:t>
            </a:r>
          </a:p>
          <a:p>
            <a:pPr algn="l"/>
            <a:endParaRPr lang="pt-BR" altLang="pt-BR" dirty="0"/>
          </a:p>
          <a:p>
            <a:pPr algn="l"/>
            <a:r>
              <a:rPr lang="pt-BR" altLang="pt-BR" dirty="0"/>
              <a:t>	- Qualitativas: Dados de presença-ausência (binários).</a:t>
            </a:r>
          </a:p>
          <a:p>
            <a:pPr algn="l"/>
            <a:r>
              <a:rPr lang="pt-BR" altLang="pt-BR" dirty="0"/>
              <a:t>	- Quantitativas: Dados contínuos.</a:t>
            </a:r>
          </a:p>
          <a:p>
            <a:pPr algn="l"/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796920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90E27179-F2CE-41D6-A628-3134D5663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1" y="3200400"/>
            <a:ext cx="4321175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US" altLang="pt-BR" sz="2000"/>
              <a:t>a= número de ocorrências em ambas as amostras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pt-BR" sz="2000"/>
              <a:t>b= número de ocorrências somente na amostra 1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pt-BR" sz="2000"/>
              <a:t>c= número de ocorrências somente na amostra 2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pt-BR" sz="2000"/>
              <a:t>d= ausência dupla.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A13F0CC4-7297-42EA-A293-FA9E78DAB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2590800"/>
            <a:ext cx="284480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>
              <a:spcBef>
                <a:spcPct val="20000"/>
              </a:spcBef>
            </a:pPr>
            <a:r>
              <a:rPr lang="en-US" altLang="pt-BR"/>
              <a:t>a=3; b=2; c=1; d=1</a:t>
            </a:r>
          </a:p>
          <a:p>
            <a:endParaRPr lang="en-US" altLang="pt-BR"/>
          </a:p>
          <a:p>
            <a:r>
              <a:rPr lang="en-US" altLang="pt-BR"/>
              <a:t>Coeficiente simples</a:t>
            </a:r>
          </a:p>
          <a:p>
            <a:r>
              <a:rPr lang="en-US" altLang="pt-BR"/>
              <a:t>CS=(a+d)/(b+c)</a:t>
            </a:r>
          </a:p>
          <a:p>
            <a:r>
              <a:rPr lang="en-US" altLang="pt-BR"/>
              <a:t>CS=(3+1)/(2+1)=1,3</a:t>
            </a:r>
          </a:p>
          <a:p>
            <a:endParaRPr lang="en-US" altLang="pt-BR"/>
          </a:p>
          <a:p>
            <a:r>
              <a:rPr lang="en-US" altLang="pt-BR"/>
              <a:t>Coeficiente de Jaccard</a:t>
            </a:r>
          </a:p>
          <a:p>
            <a:r>
              <a:rPr lang="en-US" altLang="pt-BR"/>
              <a:t>CJ=a/(a+b+c)</a:t>
            </a:r>
          </a:p>
          <a:p>
            <a:r>
              <a:rPr lang="en-US" altLang="pt-BR"/>
              <a:t>CJ=3/(3+2+1)=0,5</a:t>
            </a:r>
          </a:p>
          <a:p>
            <a:endParaRPr lang="en-US" altLang="pt-BR"/>
          </a:p>
          <a:p>
            <a:r>
              <a:rPr lang="en-US" altLang="pt-BR"/>
              <a:t>Coeficiente de Sorensen</a:t>
            </a:r>
          </a:p>
          <a:p>
            <a:r>
              <a:rPr lang="en-US" altLang="pt-BR"/>
              <a:t>CS=2a/(2a+b+c)</a:t>
            </a:r>
          </a:p>
          <a:p>
            <a:r>
              <a:rPr lang="en-US" altLang="pt-BR"/>
              <a:t>CS=2*3/(2*3+2+1)=0,66</a:t>
            </a:r>
            <a:endParaRPr lang="en-US" altLang="pt-BR" sz="2000"/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2670B794-A649-4EA4-ACFC-C65018DFE9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0" y="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>
            <a:lvl1pPr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pt-BR" sz="3600"/>
              <a:t>Índices binários</a:t>
            </a:r>
          </a:p>
        </p:txBody>
      </p:sp>
      <p:graphicFrame>
        <p:nvGraphicFramePr>
          <p:cNvPr id="21509" name="Group 5">
            <a:extLst>
              <a:ext uri="{FF2B5EF4-FFF2-40B4-BE49-F238E27FC236}">
                <a16:creationId xmlns:a16="http://schemas.microsoft.com/office/drawing/2014/main" id="{31A2EE62-0817-4092-8717-B8961620D879}"/>
              </a:ext>
            </a:extLst>
          </p:cNvPr>
          <p:cNvGraphicFramePr>
            <a:graphicFrameLocks noGrp="1"/>
          </p:cNvGraphicFramePr>
          <p:nvPr/>
        </p:nvGraphicFramePr>
        <p:xfrm>
          <a:off x="3124201" y="1143000"/>
          <a:ext cx="5414963" cy="1311910"/>
        </p:xfrm>
        <a:graphic>
          <a:graphicData uri="http://schemas.openxmlformats.org/drawingml/2006/table">
            <a:tbl>
              <a:tblPr/>
              <a:tblGrid>
                <a:gridCol w="676275">
                  <a:extLst>
                    <a:ext uri="{9D8B030D-6E8A-4147-A177-3AD203B41FA5}">
                      <a16:colId xmlns:a16="http://schemas.microsoft.com/office/drawing/2014/main" val="1476622121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31311938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911627881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472466494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569828381"/>
                    </a:ext>
                  </a:extLst>
                </a:gridCol>
                <a:gridCol w="677863">
                  <a:extLst>
                    <a:ext uri="{9D8B030D-6E8A-4147-A177-3AD203B41FA5}">
                      <a16:colId xmlns:a16="http://schemas.microsoft.com/office/drawing/2014/main" val="174752126"/>
                    </a:ext>
                  </a:extLst>
                </a:gridCol>
                <a:gridCol w="677862">
                  <a:extLst>
                    <a:ext uri="{9D8B030D-6E8A-4147-A177-3AD203B41FA5}">
                      <a16:colId xmlns:a16="http://schemas.microsoft.com/office/drawing/2014/main" val="2986527770"/>
                    </a:ext>
                  </a:extLst>
                </a:gridCol>
                <a:gridCol w="677863">
                  <a:extLst>
                    <a:ext uri="{9D8B030D-6E8A-4147-A177-3AD203B41FA5}">
                      <a16:colId xmlns:a16="http://schemas.microsoft.com/office/drawing/2014/main" val="620057595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altLang="pt-B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sp1</a:t>
                      </a:r>
                      <a:endParaRPr kumimoji="0" lang="en-US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sp2</a:t>
                      </a:r>
                      <a:endParaRPr kumimoji="0" lang="en-US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sp3</a:t>
                      </a:r>
                      <a:endParaRPr kumimoji="0" lang="en-US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sp4</a:t>
                      </a:r>
                      <a:endParaRPr kumimoji="0" lang="en-US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sp5</a:t>
                      </a:r>
                      <a:endParaRPr kumimoji="0" lang="en-US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sp6</a:t>
                      </a:r>
                      <a:endParaRPr kumimoji="0" lang="en-US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sp7</a:t>
                      </a:r>
                      <a:endParaRPr kumimoji="0" lang="en-US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0039354"/>
                  </a:ext>
                </a:extLst>
              </a:tr>
              <a:tr h="396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#1</a:t>
                      </a:r>
                      <a:endParaRPr kumimoji="0" lang="en-US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0" lang="en-US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0" lang="en-US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kumimoji="0" lang="en-US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0" lang="en-US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0" lang="en-US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0" lang="en-US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kumimoji="0" lang="en-US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3449700"/>
                  </a:ext>
                </a:extLst>
              </a:tr>
              <a:tr h="396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#2</a:t>
                      </a:r>
                      <a:endParaRPr kumimoji="0" lang="en-US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0" lang="en-US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0" lang="en-US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0" lang="en-US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kumimoji="0" lang="en-US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kumimoji="0" lang="en-US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0" lang="en-US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kumimoji="0" lang="en-US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447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2496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>
            <a:extLst>
              <a:ext uri="{FF2B5EF4-FFF2-40B4-BE49-F238E27FC236}">
                <a16:creationId xmlns:a16="http://schemas.microsoft.com/office/drawing/2014/main" id="{32EC1D2E-5E86-4B8D-95E9-7E4951F03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74614"/>
            <a:ext cx="7092950" cy="665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5" name="Text Box 3">
            <a:extLst>
              <a:ext uri="{FF2B5EF4-FFF2-40B4-BE49-F238E27FC236}">
                <a16:creationId xmlns:a16="http://schemas.microsoft.com/office/drawing/2014/main" id="{CDE7E8BE-B3C7-441D-8BAF-1AA674653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3124200"/>
            <a:ext cx="2590800" cy="1054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pt-BR" altLang="pt-BR"/>
              <a:t>Dados qualitativos hoje em dia são raros.</a:t>
            </a:r>
          </a:p>
          <a:p>
            <a:pPr algn="l">
              <a:spcBef>
                <a:spcPct val="50000"/>
              </a:spcBef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185589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0ECB2D56-6C22-4BB8-AE7F-70D81372A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0"/>
            <a:ext cx="5889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2400" b="1" u="sng"/>
              <a:t>Índice quantitativo: BRAY-CURTIS (BC)</a:t>
            </a:r>
          </a:p>
        </p:txBody>
      </p:sp>
      <p:sp>
        <p:nvSpPr>
          <p:cNvPr id="25603" name="Text Box 3">
            <a:extLst>
              <a:ext uri="{FF2B5EF4-FFF2-40B4-BE49-F238E27FC236}">
                <a16:creationId xmlns:a16="http://schemas.microsoft.com/office/drawing/2014/main" id="{5429FE91-B237-4866-9A08-9384FA4DA1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388" y="4508501"/>
            <a:ext cx="8686800" cy="14763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pt-BR" altLang="pt-BR"/>
              <a:t>Índice mais usado em ecologia é Bray-Curtis: quantitativo e não considera ausências duplas, dando mais ênfase às espécies mais abundantes.</a:t>
            </a:r>
          </a:p>
          <a:p>
            <a:pPr algn="l">
              <a:spcBef>
                <a:spcPct val="50000"/>
              </a:spcBef>
            </a:pPr>
            <a:endParaRPr lang="pt-BR" altLang="pt-BR"/>
          </a:p>
          <a:p>
            <a:pPr algn="l">
              <a:spcBef>
                <a:spcPct val="50000"/>
              </a:spcBef>
            </a:pPr>
            <a:r>
              <a:rPr lang="pt-BR" altLang="pt-BR"/>
              <a:t>Bray-Curtis se tornou um padrão em ecologia.</a:t>
            </a:r>
          </a:p>
        </p:txBody>
      </p:sp>
      <p:graphicFrame>
        <p:nvGraphicFramePr>
          <p:cNvPr id="25604" name="Group 4">
            <a:extLst>
              <a:ext uri="{FF2B5EF4-FFF2-40B4-BE49-F238E27FC236}">
                <a16:creationId xmlns:a16="http://schemas.microsoft.com/office/drawing/2014/main" id="{21782F6A-CEC8-40F6-8778-B864F3BEF220}"/>
              </a:ext>
            </a:extLst>
          </p:cNvPr>
          <p:cNvGraphicFramePr>
            <a:graphicFrameLocks noGrp="1"/>
          </p:cNvGraphicFramePr>
          <p:nvPr/>
        </p:nvGraphicFramePr>
        <p:xfrm>
          <a:off x="4953001" y="762001"/>
          <a:ext cx="4037013" cy="1708785"/>
        </p:xfrm>
        <a:graphic>
          <a:graphicData uri="http://schemas.openxmlformats.org/drawingml/2006/table">
            <a:tbl>
              <a:tblPr/>
              <a:tblGrid>
                <a:gridCol w="671513">
                  <a:extLst>
                    <a:ext uri="{9D8B030D-6E8A-4147-A177-3AD203B41FA5}">
                      <a16:colId xmlns:a16="http://schemas.microsoft.com/office/drawing/2014/main" val="3476495577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95465463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349250161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1602118776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1351275500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3160706076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altLang="pt-B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sp1</a:t>
                      </a:r>
                      <a:endParaRPr kumimoji="0" lang="en-US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sp2</a:t>
                      </a:r>
                      <a:endParaRPr kumimoji="0" lang="en-US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sp3</a:t>
                      </a:r>
                      <a:endParaRPr kumimoji="0" lang="en-US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sp4</a:t>
                      </a:r>
                      <a:endParaRPr kumimoji="0" lang="en-US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sp5</a:t>
                      </a:r>
                      <a:endParaRPr kumimoji="0" lang="en-US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025839"/>
                  </a:ext>
                </a:extLst>
              </a:tr>
              <a:tr h="396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#1</a:t>
                      </a:r>
                      <a:endParaRPr kumimoji="0" lang="en-US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US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US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790029"/>
                  </a:ext>
                </a:extLst>
              </a:tr>
              <a:tr h="396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#2</a:t>
                      </a:r>
                      <a:endParaRPr kumimoji="0" lang="en-US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US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47751"/>
                  </a:ext>
                </a:extLst>
              </a:tr>
              <a:tr h="396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#3</a:t>
                      </a:r>
                      <a:endParaRPr kumimoji="0" lang="en-US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kumimoji="0" lang="en-US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656715"/>
                  </a:ext>
                </a:extLst>
              </a:tr>
            </a:tbl>
          </a:graphicData>
        </a:graphic>
      </p:graphicFrame>
      <p:graphicFrame>
        <p:nvGraphicFramePr>
          <p:cNvPr id="25641" name="Object 41">
            <a:extLst>
              <a:ext uri="{FF2B5EF4-FFF2-40B4-BE49-F238E27FC236}">
                <a16:creationId xmlns:a16="http://schemas.microsoft.com/office/drawing/2014/main" id="{9A777CAE-0869-4E1B-8301-B7891A2CA0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82751" y="642939"/>
          <a:ext cx="2900363" cy="1538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Equation" r:id="rId4" imgW="1676160" imgH="888840" progId="Equation.3">
                  <p:embed/>
                </p:oleObj>
              </mc:Choice>
              <mc:Fallback>
                <p:oleObj name="Equation" r:id="rId4" imgW="1676160" imgH="888840" progId="Equation.3">
                  <p:embed/>
                  <p:pic>
                    <p:nvPicPr>
                      <p:cNvPr id="25641" name="Object 41">
                        <a:extLst>
                          <a:ext uri="{FF2B5EF4-FFF2-40B4-BE49-F238E27FC236}">
                            <a16:creationId xmlns:a16="http://schemas.microsoft.com/office/drawing/2014/main" id="{9A777CAE-0869-4E1B-8301-B7891A2CA0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2751" y="642939"/>
                        <a:ext cx="2900363" cy="1538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42" name="Rectangle 42">
            <a:extLst>
              <a:ext uri="{FF2B5EF4-FFF2-40B4-BE49-F238E27FC236}">
                <a16:creationId xmlns:a16="http://schemas.microsoft.com/office/drawing/2014/main" id="{6B9A7292-16F2-43C3-80E3-37E05CCC7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895600"/>
            <a:ext cx="1539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2400"/>
              <a:t>Exemplo: </a:t>
            </a:r>
          </a:p>
        </p:txBody>
      </p:sp>
      <p:graphicFrame>
        <p:nvGraphicFramePr>
          <p:cNvPr id="25643" name="Object 43">
            <a:extLst>
              <a:ext uri="{FF2B5EF4-FFF2-40B4-BE49-F238E27FC236}">
                <a16:creationId xmlns:a16="http://schemas.microsoft.com/office/drawing/2014/main" id="{6D34A774-34F6-4BE9-9FB8-B5611FB04E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74963" y="2971801"/>
          <a:ext cx="2849562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Equation" r:id="rId6" imgW="2133360" imgH="393480" progId="Equation.3">
                  <p:embed/>
                </p:oleObj>
              </mc:Choice>
              <mc:Fallback>
                <p:oleObj name="Equation" r:id="rId6" imgW="2133360" imgH="393480" progId="Equation.3">
                  <p:embed/>
                  <p:pic>
                    <p:nvPicPr>
                      <p:cNvPr id="25643" name="Object 43">
                        <a:extLst>
                          <a:ext uri="{FF2B5EF4-FFF2-40B4-BE49-F238E27FC236}">
                            <a16:creationId xmlns:a16="http://schemas.microsoft.com/office/drawing/2014/main" id="{6D34A774-34F6-4BE9-9FB8-B5611FB04E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4963" y="2971801"/>
                        <a:ext cx="2849562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44" name="Object 44">
            <a:extLst>
              <a:ext uri="{FF2B5EF4-FFF2-40B4-BE49-F238E27FC236}">
                <a16:creationId xmlns:a16="http://schemas.microsoft.com/office/drawing/2014/main" id="{93B1AB2A-756B-499A-9E6C-3E736BF8AF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82900" y="3665538"/>
          <a:ext cx="2833688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Equation" r:id="rId8" imgW="2120760" imgH="393480" progId="Equation.3">
                  <p:embed/>
                </p:oleObj>
              </mc:Choice>
              <mc:Fallback>
                <p:oleObj name="Equation" r:id="rId8" imgW="2120760" imgH="393480" progId="Equation.3">
                  <p:embed/>
                  <p:pic>
                    <p:nvPicPr>
                      <p:cNvPr id="25644" name="Object 44">
                        <a:extLst>
                          <a:ext uri="{FF2B5EF4-FFF2-40B4-BE49-F238E27FC236}">
                            <a16:creationId xmlns:a16="http://schemas.microsoft.com/office/drawing/2014/main" id="{93B1AB2A-756B-499A-9E6C-3E736BF8AF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2900" y="3665538"/>
                        <a:ext cx="2833688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45" name="Text Box 45">
            <a:extLst>
              <a:ext uri="{FF2B5EF4-FFF2-40B4-BE49-F238E27FC236}">
                <a16:creationId xmlns:a16="http://schemas.microsoft.com/office/drawing/2014/main" id="{29002F7A-1C83-40D9-A576-8F58E75167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3338" y="2924176"/>
            <a:ext cx="4284662" cy="119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pt-BR" altLang="pt-BR"/>
              <a:t>Note que #1 x #1 = 0</a:t>
            </a:r>
          </a:p>
          <a:p>
            <a:pPr algn="l">
              <a:spcBef>
                <a:spcPct val="50000"/>
              </a:spcBef>
            </a:pPr>
            <a:r>
              <a:rPr lang="pt-BR" altLang="pt-BR"/>
              <a:t>Portanto, Bray-Curtis é dissimilaridade.</a:t>
            </a:r>
          </a:p>
          <a:p>
            <a:pPr algn="l">
              <a:spcBef>
                <a:spcPct val="50000"/>
              </a:spcBef>
            </a:pPr>
            <a:r>
              <a:rPr lang="pt-BR" altLang="pt-BR"/>
              <a:t>Similaridade = 100 – Dissim.</a:t>
            </a:r>
          </a:p>
        </p:txBody>
      </p:sp>
    </p:spTree>
    <p:extLst>
      <p:ext uri="{BB962C8B-B14F-4D97-AF65-F5344CB8AC3E}">
        <p14:creationId xmlns:p14="http://schemas.microsoft.com/office/powerpoint/2010/main" val="668177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animBg="1"/>
      <p:bldP spid="25642" grpId="0"/>
      <p:bldP spid="2564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984" name="Group 96">
            <a:extLst>
              <a:ext uri="{FF2B5EF4-FFF2-40B4-BE49-F238E27FC236}">
                <a16:creationId xmlns:a16="http://schemas.microsoft.com/office/drawing/2014/main" id="{907BEF9A-6C97-4551-9287-40194D76ACB7}"/>
              </a:ext>
            </a:extLst>
          </p:cNvPr>
          <p:cNvGraphicFramePr>
            <a:graphicFrameLocks noGrp="1"/>
          </p:cNvGraphicFramePr>
          <p:nvPr/>
        </p:nvGraphicFramePr>
        <p:xfrm>
          <a:off x="2351088" y="1052513"/>
          <a:ext cx="2438400" cy="13716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197561414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5982493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27114701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999944972"/>
                    </a:ext>
                  </a:extLst>
                </a:gridCol>
              </a:tblGrid>
              <a:tr h="2444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pt-BR" alt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Sp1</a:t>
                      </a:r>
                      <a:endParaRPr kumimoji="0" lang="pt-BR" alt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Sp2</a:t>
                      </a:r>
                      <a:endParaRPr kumimoji="0" lang="pt-BR" alt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Sp3</a:t>
                      </a:r>
                      <a:endParaRPr kumimoji="0" lang="pt-BR" alt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635163"/>
                  </a:ext>
                </a:extLst>
              </a:tr>
              <a:tr h="2444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kumimoji="0" lang="pt-BR" alt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kumimoji="0" lang="pt-BR" alt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kumimoji="0" lang="pt-BR" alt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kumimoji="0" lang="pt-BR" alt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651850"/>
                  </a:ext>
                </a:extLst>
              </a:tr>
              <a:tr h="2444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kumimoji="0" lang="pt-BR" alt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kumimoji="0" lang="pt-BR" alt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kumimoji="0" lang="pt-BR" alt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kumimoji="0" lang="pt-BR" alt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579690"/>
                  </a:ext>
                </a:extLst>
              </a:tr>
              <a:tr h="2444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kumimoji="0" lang="pt-BR" alt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kumimoji="0" lang="pt-BR" alt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kumimoji="0" lang="pt-BR" alt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kumimoji="0" lang="pt-BR" alt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673283"/>
                  </a:ext>
                </a:extLst>
              </a:tr>
              <a:tr h="2444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  <a:endParaRPr kumimoji="0" lang="pt-BR" alt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kumimoji="0" lang="pt-BR" alt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kumimoji="0" lang="pt-BR" alt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kumimoji="0" lang="pt-BR" alt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900788"/>
                  </a:ext>
                </a:extLst>
              </a:tr>
            </a:tbl>
          </a:graphicData>
        </a:graphic>
      </p:graphicFrame>
      <p:sp>
        <p:nvSpPr>
          <p:cNvPr id="37939" name="Text Box 51">
            <a:extLst>
              <a:ext uri="{FF2B5EF4-FFF2-40B4-BE49-F238E27FC236}">
                <a16:creationId xmlns:a16="http://schemas.microsoft.com/office/drawing/2014/main" id="{F1588392-5984-4932-BD5A-79D78A0263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"/>
            <a:ext cx="4427538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pt-BR" altLang="pt-BR" u="sng" dirty="0"/>
              <a:t>Exemplo de Cálculo de </a:t>
            </a:r>
            <a:r>
              <a:rPr lang="pt-BR" altLang="pt-BR" u="sng" dirty="0" err="1"/>
              <a:t>Bray</a:t>
            </a:r>
            <a:r>
              <a:rPr lang="pt-BR" altLang="pt-BR" u="sng" dirty="0"/>
              <a:t>-Curtis</a:t>
            </a:r>
          </a:p>
          <a:p>
            <a:pPr algn="l">
              <a:spcBef>
                <a:spcPct val="50000"/>
              </a:spcBef>
            </a:pPr>
            <a:r>
              <a:rPr lang="pt-BR" altLang="pt-BR" dirty="0"/>
              <a:t>Seja a matriz de dados brutos:</a:t>
            </a:r>
          </a:p>
        </p:txBody>
      </p:sp>
      <p:graphicFrame>
        <p:nvGraphicFramePr>
          <p:cNvPr id="37989" name="Group 101">
            <a:extLst>
              <a:ext uri="{FF2B5EF4-FFF2-40B4-BE49-F238E27FC236}">
                <a16:creationId xmlns:a16="http://schemas.microsoft.com/office/drawing/2014/main" id="{1A8C6536-D537-415A-90BC-94C8CA03E4A9}"/>
              </a:ext>
            </a:extLst>
          </p:cNvPr>
          <p:cNvGraphicFramePr>
            <a:graphicFrameLocks noGrp="1"/>
          </p:cNvGraphicFramePr>
          <p:nvPr/>
        </p:nvGraphicFramePr>
        <p:xfrm>
          <a:off x="1758950" y="2870200"/>
          <a:ext cx="4121150" cy="1097280"/>
        </p:xfrm>
        <a:graphic>
          <a:graphicData uri="http://schemas.openxmlformats.org/drawingml/2006/table">
            <a:tbl>
              <a:tblPr/>
              <a:tblGrid>
                <a:gridCol w="4121150">
                  <a:extLst>
                    <a:ext uri="{9D8B030D-6E8A-4147-A177-3AD203B41FA5}">
                      <a16:colId xmlns:a16="http://schemas.microsoft.com/office/drawing/2014/main" val="3775812772"/>
                    </a:ext>
                  </a:extLst>
                </a:gridCol>
              </a:tblGrid>
              <a:tr h="7286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Defina-se BRAY-CURTIS (BC) PARA CADA PAR DE AMOSTRA X e Y: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Dissimilaridade                        Similaridade</a:t>
                      </a:r>
                      <a:endParaRPr kumimoji="0" lang="pt-BR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190521"/>
                  </a:ext>
                </a:extLst>
              </a:tr>
              <a:tr h="2286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2112283"/>
                  </a:ext>
                </a:extLst>
              </a:tr>
            </a:tbl>
          </a:graphicData>
        </a:graphic>
      </p:graphicFrame>
      <p:graphicFrame>
        <p:nvGraphicFramePr>
          <p:cNvPr id="37983" name="Group 95">
            <a:extLst>
              <a:ext uri="{FF2B5EF4-FFF2-40B4-BE49-F238E27FC236}">
                <a16:creationId xmlns:a16="http://schemas.microsoft.com/office/drawing/2014/main" id="{09A798BA-2B16-44A2-AA42-9E569A36D572}"/>
              </a:ext>
            </a:extLst>
          </p:cNvPr>
          <p:cNvGraphicFramePr>
            <a:graphicFrameLocks noGrp="1"/>
          </p:cNvGraphicFramePr>
          <p:nvPr/>
        </p:nvGraphicFramePr>
        <p:xfrm>
          <a:off x="1831975" y="3662363"/>
          <a:ext cx="1727200" cy="1645920"/>
        </p:xfrm>
        <a:graphic>
          <a:graphicData uri="http://schemas.openxmlformats.org/drawingml/2006/table">
            <a:tbl>
              <a:tblPr/>
              <a:tblGrid>
                <a:gridCol w="879475">
                  <a:extLst>
                    <a:ext uri="{9D8B030D-6E8A-4147-A177-3AD203B41FA5}">
                      <a16:colId xmlns:a16="http://schemas.microsoft.com/office/drawing/2014/main" val="2929564255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3959423315"/>
                    </a:ext>
                  </a:extLst>
                </a:gridCol>
              </a:tblGrid>
              <a:tr h="2444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X B =</a:t>
                      </a:r>
                      <a:endParaRPr kumimoji="0" lang="pt-BR" alt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</a:t>
                      </a:r>
                      <a:endParaRPr kumimoji="0" lang="pt-BR" alt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1989833"/>
                  </a:ext>
                </a:extLst>
              </a:tr>
              <a:tr h="2444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X C =</a:t>
                      </a:r>
                      <a:endParaRPr kumimoji="0" lang="pt-BR" alt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  <a:endParaRPr kumimoji="0" lang="pt-BR" alt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3418237"/>
                  </a:ext>
                </a:extLst>
              </a:tr>
              <a:tr h="2444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X D =</a:t>
                      </a:r>
                      <a:endParaRPr kumimoji="0" lang="pt-BR" alt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kumimoji="0" lang="pt-BR" alt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1720059"/>
                  </a:ext>
                </a:extLst>
              </a:tr>
              <a:tr h="2444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 X C =</a:t>
                      </a:r>
                      <a:endParaRPr kumimoji="0" lang="pt-BR" alt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</a:t>
                      </a:r>
                      <a:endParaRPr kumimoji="0" lang="pt-BR" alt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1381377"/>
                  </a:ext>
                </a:extLst>
              </a:tr>
              <a:tr h="2444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 X D =</a:t>
                      </a:r>
                      <a:endParaRPr kumimoji="0" lang="pt-BR" alt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  <a:endParaRPr kumimoji="0" lang="pt-BR" alt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2475414"/>
                  </a:ext>
                </a:extLst>
              </a:tr>
              <a:tr h="2444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X D =</a:t>
                      </a:r>
                      <a:endParaRPr kumimoji="0" lang="pt-BR" alt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</a:t>
                      </a:r>
                      <a:endParaRPr kumimoji="0" lang="pt-BR" alt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4734654"/>
                  </a:ext>
                </a:extLst>
              </a:tr>
            </a:tbl>
          </a:graphicData>
        </a:graphic>
      </p:graphicFrame>
      <p:graphicFrame>
        <p:nvGraphicFramePr>
          <p:cNvPr id="38170" name="Group 282">
            <a:extLst>
              <a:ext uri="{FF2B5EF4-FFF2-40B4-BE49-F238E27FC236}">
                <a16:creationId xmlns:a16="http://schemas.microsoft.com/office/drawing/2014/main" id="{1C04BFA8-F340-4307-A716-0A1F0D5FCB6A}"/>
              </a:ext>
            </a:extLst>
          </p:cNvPr>
          <p:cNvGraphicFramePr>
            <a:graphicFrameLocks noGrp="1"/>
          </p:cNvGraphicFramePr>
          <p:nvPr/>
        </p:nvGraphicFramePr>
        <p:xfrm>
          <a:off x="4064001" y="3590925"/>
          <a:ext cx="1655763" cy="1671638"/>
        </p:xfrm>
        <a:graphic>
          <a:graphicData uri="http://schemas.openxmlformats.org/drawingml/2006/table">
            <a:tbl>
              <a:tblPr/>
              <a:tblGrid>
                <a:gridCol w="842963">
                  <a:extLst>
                    <a:ext uri="{9D8B030D-6E8A-4147-A177-3AD203B41FA5}">
                      <a16:colId xmlns:a16="http://schemas.microsoft.com/office/drawing/2014/main" val="49033643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00630268"/>
                    </a:ext>
                  </a:extLst>
                </a:gridCol>
              </a:tblGrid>
              <a:tr h="2444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X B =</a:t>
                      </a:r>
                      <a:endParaRPr kumimoji="0" lang="pt-BR" alt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55</a:t>
                      </a:r>
                      <a:endParaRPr kumimoji="0" lang="pt-BR" alt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1492245"/>
                  </a:ext>
                </a:extLst>
              </a:tr>
              <a:tr h="2444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X C =</a:t>
                      </a:r>
                      <a:endParaRPr kumimoji="0" lang="pt-BR" alt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86</a:t>
                      </a:r>
                      <a:endParaRPr kumimoji="0" lang="pt-BR" alt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8521520"/>
                  </a:ext>
                </a:extLst>
              </a:tr>
              <a:tr h="3000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X D =</a:t>
                      </a:r>
                      <a:endParaRPr kumimoji="0" lang="pt-BR" alt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kumimoji="0" lang="pt-BR" alt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8627380"/>
                  </a:ext>
                </a:extLst>
              </a:tr>
              <a:tr h="2444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 X C =</a:t>
                      </a:r>
                      <a:endParaRPr kumimoji="0" lang="pt-BR" alt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67</a:t>
                      </a:r>
                      <a:endParaRPr kumimoji="0" lang="pt-BR" alt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5633235"/>
                  </a:ext>
                </a:extLst>
              </a:tr>
              <a:tr h="2444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 X D =</a:t>
                      </a:r>
                      <a:endParaRPr kumimoji="0" lang="pt-BR" alt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83</a:t>
                      </a:r>
                      <a:endParaRPr kumimoji="0" lang="pt-BR" alt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3469447"/>
                  </a:ext>
                </a:extLst>
              </a:tr>
              <a:tr h="2444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X D =</a:t>
                      </a:r>
                      <a:endParaRPr kumimoji="0" lang="pt-BR" alt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62</a:t>
                      </a:r>
                      <a:endParaRPr kumimoji="0" lang="pt-BR" alt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4435882"/>
                  </a:ext>
                </a:extLst>
              </a:tr>
            </a:tbl>
          </a:graphicData>
        </a:graphic>
      </p:graphicFrame>
      <p:graphicFrame>
        <p:nvGraphicFramePr>
          <p:cNvPr id="38168" name="Object 280">
            <a:extLst>
              <a:ext uri="{FF2B5EF4-FFF2-40B4-BE49-F238E27FC236}">
                <a16:creationId xmlns:a16="http://schemas.microsoft.com/office/drawing/2014/main" id="{3E7BBD98-AFCF-4B1F-8941-E393A103D0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35638" y="836614"/>
          <a:ext cx="2900362" cy="1538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Equation" r:id="rId4" imgW="1676160" imgH="888840" progId="Equation.3">
                  <p:embed/>
                </p:oleObj>
              </mc:Choice>
              <mc:Fallback>
                <p:oleObj name="Equation" r:id="rId4" imgW="1676160" imgH="888840" progId="Equation.3">
                  <p:embed/>
                  <p:pic>
                    <p:nvPicPr>
                      <p:cNvPr id="38168" name="Object 280">
                        <a:extLst>
                          <a:ext uri="{FF2B5EF4-FFF2-40B4-BE49-F238E27FC236}">
                            <a16:creationId xmlns:a16="http://schemas.microsoft.com/office/drawing/2014/main" id="{3E7BBD98-AFCF-4B1F-8941-E393A103D0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5638" y="836614"/>
                        <a:ext cx="2900362" cy="1538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169" name="Text Box 281">
            <a:extLst>
              <a:ext uri="{FF2B5EF4-FFF2-40B4-BE49-F238E27FC236}">
                <a16:creationId xmlns:a16="http://schemas.microsoft.com/office/drawing/2014/main" id="{3C8C9CEB-55F6-4621-8F3B-AC509B9946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6364" y="4292601"/>
            <a:ext cx="30956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pt-BR" altLang="pt-BR"/>
              <a:t>Similaridade = 100 – Dissim.</a:t>
            </a:r>
          </a:p>
        </p:txBody>
      </p:sp>
    </p:spTree>
    <p:extLst>
      <p:ext uri="{BB962C8B-B14F-4D97-AF65-F5344CB8AC3E}">
        <p14:creationId xmlns:p14="http://schemas.microsoft.com/office/powerpoint/2010/main" val="777820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16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>
            <a:extLst>
              <a:ext uri="{FF2B5EF4-FFF2-40B4-BE49-F238E27FC236}">
                <a16:creationId xmlns:a16="http://schemas.microsoft.com/office/drawing/2014/main" id="{B0DD7595-93BA-47DF-A7D3-557BD8E3C6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388" y="188913"/>
            <a:ext cx="8964612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endParaRPr lang="pt-BR" altLang="pt-BR" sz="2400" b="1" dirty="0">
              <a:solidFill>
                <a:schemeClr val="accent2"/>
              </a:solidFill>
            </a:endParaRPr>
          </a:p>
          <a:p>
            <a:pPr algn="l"/>
            <a:r>
              <a:rPr lang="pt-BR" altLang="pt-BR" sz="2400" b="1" dirty="0">
                <a:solidFill>
                  <a:schemeClr val="accent2"/>
                </a:solidFill>
              </a:rPr>
              <a:t>CLASSIFICAÇÃO: ANÁLISE DE AGRUPAMENTOS (Cluster)</a:t>
            </a:r>
          </a:p>
          <a:p>
            <a:pPr algn="l"/>
            <a:endParaRPr lang="pt-BR" altLang="pt-BR" sz="2400" b="1" dirty="0"/>
          </a:p>
          <a:p>
            <a:pPr algn="l"/>
            <a:r>
              <a:rPr lang="pt-BR" altLang="pt-BR" dirty="0"/>
              <a:t>Análise de cluster é o termo usado para descrever uma série de técnicas numéricas nas quais o propósito principal é dividir os objetos de estudo em grupos.</a:t>
            </a:r>
          </a:p>
          <a:p>
            <a:pPr algn="l"/>
            <a:endParaRPr lang="pt-BR" altLang="pt-BR" dirty="0"/>
          </a:p>
          <a:p>
            <a:pPr algn="l"/>
            <a:r>
              <a:rPr lang="pt-BR" altLang="pt-BR" dirty="0"/>
              <a:t>Estes grupos são baseados nas características (descritores) dos objetos e espera-se que os agrupamentos tenham alguma relevância para o estudo em questão.</a:t>
            </a:r>
          </a:p>
          <a:p>
            <a:pPr algn="l"/>
            <a:endParaRPr lang="pt-BR" altLang="pt-BR" dirty="0"/>
          </a:p>
          <a:p>
            <a:pPr algn="l"/>
            <a:r>
              <a:rPr lang="pt-BR" altLang="pt-BR" dirty="0"/>
              <a:t>Os resultados destas análises são apresentados em um diagrama de árvore conhecido como </a:t>
            </a:r>
            <a:r>
              <a:rPr lang="pt-BR" altLang="pt-BR" dirty="0" err="1"/>
              <a:t>dendrograma</a:t>
            </a:r>
            <a:r>
              <a:rPr lang="pt-BR" altLang="pt-BR" dirty="0"/>
              <a:t>. </a:t>
            </a:r>
          </a:p>
          <a:p>
            <a:pPr algn="l"/>
            <a:endParaRPr lang="pt-BR" altLang="pt-BR" dirty="0"/>
          </a:p>
          <a:p>
            <a:pPr algn="l"/>
            <a:r>
              <a:rPr lang="pt-BR" altLang="pt-BR" dirty="0"/>
              <a:t>Encontrar nos dados uma estrutura natural de agrupamentos é uma técnica exploratória. A análise não considera o número de grupos </a:t>
            </a:r>
            <a:r>
              <a:rPr lang="pt-BR" altLang="pt-BR" i="1" dirty="0"/>
              <a:t>a priori.</a:t>
            </a:r>
          </a:p>
          <a:p>
            <a:pPr algn="l"/>
            <a:endParaRPr lang="pt-BR" altLang="pt-BR" i="1" dirty="0"/>
          </a:p>
          <a:p>
            <a:pPr algn="l"/>
            <a:r>
              <a:rPr lang="pt-BR" altLang="pt-BR" dirty="0"/>
              <a:t>Objetivo: Agrupar objetos semelhantes segundo suas características (descritores – Modo R). Nada impede que sejam agrupadas os descritores em função dos objetos (Modo Q).</a:t>
            </a:r>
          </a:p>
          <a:p>
            <a:pPr algn="l"/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2460824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09081EAA-CC4B-4BD1-8D4E-39F084AA0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1524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>
            <a:lvl1pPr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pt-BR" sz="3600"/>
              <a:t>Exemplo de um dendrograma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F280BF3C-587E-4F85-88F4-E2592DA28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5413" y="5445125"/>
            <a:ext cx="5272278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pt-BR" sz="2400"/>
              <a:t>1    2   3    4    5   6    7    8    9   10    11   12</a:t>
            </a:r>
          </a:p>
        </p:txBody>
      </p:sp>
      <p:sp>
        <p:nvSpPr>
          <p:cNvPr id="31748" name="Line 4">
            <a:extLst>
              <a:ext uri="{FF2B5EF4-FFF2-40B4-BE49-F238E27FC236}">
                <a16:creationId xmlns:a16="http://schemas.microsoft.com/office/drawing/2014/main" id="{0664D147-4291-48D8-BF02-C1064E710B0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51550" y="4914901"/>
            <a:ext cx="0" cy="4810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1749" name="Line 5">
            <a:extLst>
              <a:ext uri="{FF2B5EF4-FFF2-40B4-BE49-F238E27FC236}">
                <a16:creationId xmlns:a16="http://schemas.microsoft.com/office/drawing/2014/main" id="{67038E9C-4402-47BE-889B-6038164285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91275" y="4914901"/>
            <a:ext cx="0" cy="4810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1750" name="Line 6">
            <a:extLst>
              <a:ext uri="{FF2B5EF4-FFF2-40B4-BE49-F238E27FC236}">
                <a16:creationId xmlns:a16="http://schemas.microsoft.com/office/drawing/2014/main" id="{46FA2D3B-4532-4810-98C9-8F3C5835E20B}"/>
              </a:ext>
            </a:extLst>
          </p:cNvPr>
          <p:cNvSpPr>
            <a:spLocks noChangeShapeType="1"/>
          </p:cNvSpPr>
          <p:nvPr/>
        </p:nvSpPr>
        <p:spPr bwMode="auto">
          <a:xfrm>
            <a:off x="6067425" y="4916488"/>
            <a:ext cx="311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1751" name="Line 7">
            <a:extLst>
              <a:ext uri="{FF2B5EF4-FFF2-40B4-BE49-F238E27FC236}">
                <a16:creationId xmlns:a16="http://schemas.microsoft.com/office/drawing/2014/main" id="{50A67E22-6331-48AF-9CC5-D6510BFF6ED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78300" y="4708526"/>
            <a:ext cx="0" cy="7270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1752" name="Line 8">
            <a:extLst>
              <a:ext uri="{FF2B5EF4-FFF2-40B4-BE49-F238E27FC236}">
                <a16:creationId xmlns:a16="http://schemas.microsoft.com/office/drawing/2014/main" id="{B49013B6-E40B-42FC-AE0A-6A8032715F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14863" y="4718051"/>
            <a:ext cx="0" cy="7270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1753" name="Line 9">
            <a:extLst>
              <a:ext uri="{FF2B5EF4-FFF2-40B4-BE49-F238E27FC236}">
                <a16:creationId xmlns:a16="http://schemas.microsoft.com/office/drawing/2014/main" id="{14A0EB66-CD1D-4355-AFBB-C6B25184118A}"/>
              </a:ext>
            </a:extLst>
          </p:cNvPr>
          <p:cNvSpPr>
            <a:spLocks noChangeShapeType="1"/>
          </p:cNvSpPr>
          <p:nvPr/>
        </p:nvSpPr>
        <p:spPr bwMode="auto">
          <a:xfrm>
            <a:off x="4178300" y="4718050"/>
            <a:ext cx="407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1754" name="Line 10">
            <a:extLst>
              <a:ext uri="{FF2B5EF4-FFF2-40B4-BE49-F238E27FC236}">
                <a16:creationId xmlns:a16="http://schemas.microsoft.com/office/drawing/2014/main" id="{211D2E1A-1B08-4DD9-8574-6CBD3B720F2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88300" y="4392614"/>
            <a:ext cx="0" cy="955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1755" name="Line 11">
            <a:extLst>
              <a:ext uri="{FF2B5EF4-FFF2-40B4-BE49-F238E27FC236}">
                <a16:creationId xmlns:a16="http://schemas.microsoft.com/office/drawing/2014/main" id="{6A8D14E3-EFB4-48D7-83D0-D339304718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21700" y="4403726"/>
            <a:ext cx="0" cy="9747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1756" name="Line 12">
            <a:extLst>
              <a:ext uri="{FF2B5EF4-FFF2-40B4-BE49-F238E27FC236}">
                <a16:creationId xmlns:a16="http://schemas.microsoft.com/office/drawing/2014/main" id="{CB03C514-059A-463A-88E5-E6EE50F7B02E}"/>
              </a:ext>
            </a:extLst>
          </p:cNvPr>
          <p:cNvSpPr>
            <a:spLocks noChangeShapeType="1"/>
          </p:cNvSpPr>
          <p:nvPr/>
        </p:nvSpPr>
        <p:spPr bwMode="auto">
          <a:xfrm>
            <a:off x="8004176" y="4391025"/>
            <a:ext cx="4937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1757" name="Line 13">
            <a:extLst>
              <a:ext uri="{FF2B5EF4-FFF2-40B4-BE49-F238E27FC236}">
                <a16:creationId xmlns:a16="http://schemas.microsoft.com/office/drawing/2014/main" id="{4D667258-1DAC-457D-91EF-3EB64590AAE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47188" y="4141788"/>
            <a:ext cx="0" cy="1212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1758" name="Line 14">
            <a:extLst>
              <a:ext uri="{FF2B5EF4-FFF2-40B4-BE49-F238E27FC236}">
                <a16:creationId xmlns:a16="http://schemas.microsoft.com/office/drawing/2014/main" id="{683428D9-4D79-473A-A776-70F06833603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877425" y="4141788"/>
            <a:ext cx="0" cy="1212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1759" name="Line 15">
            <a:extLst>
              <a:ext uri="{FF2B5EF4-FFF2-40B4-BE49-F238E27FC236}">
                <a16:creationId xmlns:a16="http://schemas.microsoft.com/office/drawing/2014/main" id="{68912B99-DA10-4A74-9C2C-EE4FB3C05EC8}"/>
              </a:ext>
            </a:extLst>
          </p:cNvPr>
          <p:cNvSpPr>
            <a:spLocks noChangeShapeType="1"/>
          </p:cNvSpPr>
          <p:nvPr/>
        </p:nvSpPr>
        <p:spPr bwMode="auto">
          <a:xfrm>
            <a:off x="9263063" y="4144963"/>
            <a:ext cx="5905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1760" name="Line 16">
            <a:extLst>
              <a:ext uri="{FF2B5EF4-FFF2-40B4-BE49-F238E27FC236}">
                <a16:creationId xmlns:a16="http://schemas.microsoft.com/office/drawing/2014/main" id="{A2E88177-B14D-4C85-A1F1-C3793A7F567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78813" y="3419476"/>
            <a:ext cx="0" cy="9747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1761" name="Line 17">
            <a:extLst>
              <a:ext uri="{FF2B5EF4-FFF2-40B4-BE49-F238E27FC236}">
                <a16:creationId xmlns:a16="http://schemas.microsoft.com/office/drawing/2014/main" id="{31886809-EB9F-4415-99AB-0381B1E41C2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490075" y="3419476"/>
            <a:ext cx="0" cy="7270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1762" name="Line 18">
            <a:extLst>
              <a:ext uri="{FF2B5EF4-FFF2-40B4-BE49-F238E27FC236}">
                <a16:creationId xmlns:a16="http://schemas.microsoft.com/office/drawing/2014/main" id="{202599E2-5935-42B3-A4FC-2FA8341EE1A8}"/>
              </a:ext>
            </a:extLst>
          </p:cNvPr>
          <p:cNvSpPr>
            <a:spLocks noChangeShapeType="1"/>
          </p:cNvSpPr>
          <p:nvPr/>
        </p:nvSpPr>
        <p:spPr bwMode="auto">
          <a:xfrm>
            <a:off x="8294689" y="3422650"/>
            <a:ext cx="11842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1763" name="Line 19">
            <a:extLst>
              <a:ext uri="{FF2B5EF4-FFF2-40B4-BE49-F238E27FC236}">
                <a16:creationId xmlns:a16="http://schemas.microsoft.com/office/drawing/2014/main" id="{26F982B8-3F0C-4569-96D1-AAE1FD18ED1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19675" y="4254501"/>
            <a:ext cx="0" cy="11398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1764" name="Line 20">
            <a:extLst>
              <a:ext uri="{FF2B5EF4-FFF2-40B4-BE49-F238E27FC236}">
                <a16:creationId xmlns:a16="http://schemas.microsoft.com/office/drawing/2014/main" id="{900E885B-7BF9-480D-B407-7B4AFF37FA1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89438" y="4240214"/>
            <a:ext cx="0" cy="4714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1765" name="Line 21">
            <a:extLst>
              <a:ext uri="{FF2B5EF4-FFF2-40B4-BE49-F238E27FC236}">
                <a16:creationId xmlns:a16="http://schemas.microsoft.com/office/drawing/2014/main" id="{CD88F81E-1BAD-4C4A-877C-C0A16766207D}"/>
              </a:ext>
            </a:extLst>
          </p:cNvPr>
          <p:cNvSpPr>
            <a:spLocks noChangeShapeType="1"/>
          </p:cNvSpPr>
          <p:nvPr/>
        </p:nvSpPr>
        <p:spPr bwMode="auto">
          <a:xfrm>
            <a:off x="4405313" y="4243388"/>
            <a:ext cx="6016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1766" name="Line 22">
            <a:extLst>
              <a:ext uri="{FF2B5EF4-FFF2-40B4-BE49-F238E27FC236}">
                <a16:creationId xmlns:a16="http://schemas.microsoft.com/office/drawing/2014/main" id="{82ED6BD9-97DE-42F3-B278-F56C80033C9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19738" y="3763963"/>
            <a:ext cx="0" cy="15430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1767" name="Line 23">
            <a:extLst>
              <a:ext uri="{FF2B5EF4-FFF2-40B4-BE49-F238E27FC236}">
                <a16:creationId xmlns:a16="http://schemas.microsoft.com/office/drawing/2014/main" id="{7E2897FC-D53E-43BA-8C00-4A74E192DAD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60913" y="3765551"/>
            <a:ext cx="0" cy="4810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1768" name="Line 24">
            <a:extLst>
              <a:ext uri="{FF2B5EF4-FFF2-40B4-BE49-F238E27FC236}">
                <a16:creationId xmlns:a16="http://schemas.microsoft.com/office/drawing/2014/main" id="{AE1992B1-2070-4FA2-9911-490CB52907E8}"/>
              </a:ext>
            </a:extLst>
          </p:cNvPr>
          <p:cNvSpPr>
            <a:spLocks noChangeShapeType="1"/>
          </p:cNvSpPr>
          <p:nvPr/>
        </p:nvSpPr>
        <p:spPr bwMode="auto">
          <a:xfrm>
            <a:off x="4779963" y="3768725"/>
            <a:ext cx="7239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1769" name="Line 25">
            <a:extLst>
              <a:ext uri="{FF2B5EF4-FFF2-40B4-BE49-F238E27FC236}">
                <a16:creationId xmlns:a16="http://schemas.microsoft.com/office/drawing/2014/main" id="{D50550EC-7716-4F5F-94FE-41097F1C14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19925" y="4997451"/>
            <a:ext cx="0" cy="3984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1770" name="Line 26">
            <a:extLst>
              <a:ext uri="{FF2B5EF4-FFF2-40B4-BE49-F238E27FC236}">
                <a16:creationId xmlns:a16="http://schemas.microsoft.com/office/drawing/2014/main" id="{97666613-9D49-4966-A515-BD7E2C0E00B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56488" y="4997451"/>
            <a:ext cx="0" cy="3984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1771" name="Line 27">
            <a:extLst>
              <a:ext uri="{FF2B5EF4-FFF2-40B4-BE49-F238E27FC236}">
                <a16:creationId xmlns:a16="http://schemas.microsoft.com/office/drawing/2014/main" id="{00A67022-3F6A-45AC-9CBB-15E5194B35C6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5801" y="4999038"/>
            <a:ext cx="3968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1772" name="Line 28">
            <a:extLst>
              <a:ext uri="{FF2B5EF4-FFF2-40B4-BE49-F238E27FC236}">
                <a16:creationId xmlns:a16="http://schemas.microsoft.com/office/drawing/2014/main" id="{979F60C8-004B-4D07-8D8A-F4C9CEACF45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29350" y="4605338"/>
            <a:ext cx="0" cy="3159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1773" name="Line 29">
            <a:extLst>
              <a:ext uri="{FF2B5EF4-FFF2-40B4-BE49-F238E27FC236}">
                <a16:creationId xmlns:a16="http://schemas.microsoft.com/office/drawing/2014/main" id="{F49A99D1-5C17-4D4A-86A9-BFA293CE808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78688" y="4603751"/>
            <a:ext cx="0" cy="396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1774" name="Line 30">
            <a:extLst>
              <a:ext uri="{FF2B5EF4-FFF2-40B4-BE49-F238E27FC236}">
                <a16:creationId xmlns:a16="http://schemas.microsoft.com/office/drawing/2014/main" id="{5F9241C4-4F07-43B2-9C28-3E21CB0D2507}"/>
              </a:ext>
            </a:extLst>
          </p:cNvPr>
          <p:cNvSpPr>
            <a:spLocks noChangeShapeType="1"/>
          </p:cNvSpPr>
          <p:nvPr/>
        </p:nvSpPr>
        <p:spPr bwMode="auto">
          <a:xfrm>
            <a:off x="6261101" y="4606925"/>
            <a:ext cx="10017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1775" name="Line 31">
            <a:extLst>
              <a:ext uri="{FF2B5EF4-FFF2-40B4-BE49-F238E27FC236}">
                <a16:creationId xmlns:a16="http://schemas.microsoft.com/office/drawing/2014/main" id="{70A6C374-A27B-4EAF-B2C1-B8A3DD89387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78625" y="2894013"/>
            <a:ext cx="0" cy="171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1776" name="Line 32">
            <a:extLst>
              <a:ext uri="{FF2B5EF4-FFF2-40B4-BE49-F238E27FC236}">
                <a16:creationId xmlns:a16="http://schemas.microsoft.com/office/drawing/2014/main" id="{784DD449-8713-43DE-B74B-97046A6607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83175" y="2895600"/>
            <a:ext cx="0" cy="8715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1777" name="Line 33">
            <a:extLst>
              <a:ext uri="{FF2B5EF4-FFF2-40B4-BE49-F238E27FC236}">
                <a16:creationId xmlns:a16="http://schemas.microsoft.com/office/drawing/2014/main" id="{0E788842-B944-4017-AFA9-09346529FD53}"/>
              </a:ext>
            </a:extLst>
          </p:cNvPr>
          <p:cNvSpPr>
            <a:spLocks noChangeShapeType="1"/>
          </p:cNvSpPr>
          <p:nvPr/>
        </p:nvSpPr>
        <p:spPr bwMode="auto">
          <a:xfrm>
            <a:off x="5099051" y="2897188"/>
            <a:ext cx="16668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1778" name="Line 34">
            <a:extLst>
              <a:ext uri="{FF2B5EF4-FFF2-40B4-BE49-F238E27FC236}">
                <a16:creationId xmlns:a16="http://schemas.microsoft.com/office/drawing/2014/main" id="{1BA650E2-0F11-4C03-8B45-778EFAAA1B9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54713" y="2338388"/>
            <a:ext cx="0" cy="5635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1779" name="Line 35">
            <a:extLst>
              <a:ext uri="{FF2B5EF4-FFF2-40B4-BE49-F238E27FC236}">
                <a16:creationId xmlns:a16="http://schemas.microsoft.com/office/drawing/2014/main" id="{D56B466C-A686-4453-9AF1-3C330D606B9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12213" y="2349500"/>
            <a:ext cx="0" cy="10604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1780" name="Line 36">
            <a:extLst>
              <a:ext uri="{FF2B5EF4-FFF2-40B4-BE49-F238E27FC236}">
                <a16:creationId xmlns:a16="http://schemas.microsoft.com/office/drawing/2014/main" id="{F6AC2D61-8238-43F0-8A5C-BE3520B8E77E}"/>
              </a:ext>
            </a:extLst>
          </p:cNvPr>
          <p:cNvSpPr>
            <a:spLocks noChangeShapeType="1"/>
          </p:cNvSpPr>
          <p:nvPr/>
        </p:nvSpPr>
        <p:spPr bwMode="auto">
          <a:xfrm>
            <a:off x="5975350" y="2357438"/>
            <a:ext cx="2825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1781" name="Line 37">
            <a:extLst>
              <a:ext uri="{FF2B5EF4-FFF2-40B4-BE49-F238E27FC236}">
                <a16:creationId xmlns:a16="http://schemas.microsoft.com/office/drawing/2014/main" id="{810E18DF-FC8A-432E-8033-7F7AA23E2BC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75525" y="1947864"/>
            <a:ext cx="0" cy="396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1782" name="Line 38">
            <a:extLst>
              <a:ext uri="{FF2B5EF4-FFF2-40B4-BE49-F238E27FC236}">
                <a16:creationId xmlns:a16="http://schemas.microsoft.com/office/drawing/2014/main" id="{6FBEDAB0-C977-4468-8257-2463699955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21000" y="1828800"/>
            <a:ext cx="0" cy="33607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1783" name="Rectangle 39">
            <a:extLst>
              <a:ext uri="{FF2B5EF4-FFF2-40B4-BE49-F238E27FC236}">
                <a16:creationId xmlns:a16="http://schemas.microsoft.com/office/drawing/2014/main" id="{856F7795-2AFD-4C8B-B6F5-92118B876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6638" y="4795838"/>
            <a:ext cx="570670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pt-BR" sz="2400"/>
              <a:t>0.0</a:t>
            </a:r>
          </a:p>
        </p:txBody>
      </p:sp>
      <p:sp>
        <p:nvSpPr>
          <p:cNvPr id="31784" name="Rectangle 40">
            <a:extLst>
              <a:ext uri="{FF2B5EF4-FFF2-40B4-BE49-F238E27FC236}">
                <a16:creationId xmlns:a16="http://schemas.microsoft.com/office/drawing/2014/main" id="{5BB05CDA-B318-4E11-B4EF-87E0561289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6638" y="3068638"/>
            <a:ext cx="570670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pt-BR" sz="2400"/>
              <a:t>0.5</a:t>
            </a:r>
          </a:p>
        </p:txBody>
      </p:sp>
      <p:sp>
        <p:nvSpPr>
          <p:cNvPr id="31785" name="Rectangle 41">
            <a:extLst>
              <a:ext uri="{FF2B5EF4-FFF2-40B4-BE49-F238E27FC236}">
                <a16:creationId xmlns:a16="http://schemas.microsoft.com/office/drawing/2014/main" id="{D23340F7-54D5-4E93-811C-7ACA80B94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6638" y="1670050"/>
            <a:ext cx="570670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pt-BR" sz="2400"/>
              <a:t>1.0</a:t>
            </a:r>
          </a:p>
        </p:txBody>
      </p:sp>
      <p:sp>
        <p:nvSpPr>
          <p:cNvPr id="31786" name="Rectangle 42">
            <a:extLst>
              <a:ext uri="{FF2B5EF4-FFF2-40B4-BE49-F238E27FC236}">
                <a16:creationId xmlns:a16="http://schemas.microsoft.com/office/drawing/2014/main" id="{B6F1EBF8-2CAA-427C-8E5A-8E167E666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6250" y="2508251"/>
            <a:ext cx="403958" cy="520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pt-BR" sz="2800"/>
              <a:t>D</a:t>
            </a:r>
          </a:p>
        </p:txBody>
      </p:sp>
      <p:sp>
        <p:nvSpPr>
          <p:cNvPr id="31787" name="Line 43">
            <a:extLst>
              <a:ext uri="{FF2B5EF4-FFF2-40B4-BE49-F238E27FC236}">
                <a16:creationId xmlns:a16="http://schemas.microsoft.com/office/drawing/2014/main" id="{E75FD1B0-F70C-4CF6-92FF-228300B38DDC}"/>
              </a:ext>
            </a:extLst>
          </p:cNvPr>
          <p:cNvSpPr>
            <a:spLocks noChangeShapeType="1"/>
          </p:cNvSpPr>
          <p:nvPr/>
        </p:nvSpPr>
        <p:spPr bwMode="auto">
          <a:xfrm>
            <a:off x="4130675" y="5894388"/>
            <a:ext cx="13652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1788" name="Line 44">
            <a:extLst>
              <a:ext uri="{FF2B5EF4-FFF2-40B4-BE49-F238E27FC236}">
                <a16:creationId xmlns:a16="http://schemas.microsoft.com/office/drawing/2014/main" id="{8ACD9B09-BBF3-4B23-9F91-5D6359398EE8}"/>
              </a:ext>
            </a:extLst>
          </p:cNvPr>
          <p:cNvSpPr>
            <a:spLocks noChangeShapeType="1"/>
          </p:cNvSpPr>
          <p:nvPr/>
        </p:nvSpPr>
        <p:spPr bwMode="auto">
          <a:xfrm>
            <a:off x="6067425" y="5894388"/>
            <a:ext cx="13652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1789" name="Line 45">
            <a:extLst>
              <a:ext uri="{FF2B5EF4-FFF2-40B4-BE49-F238E27FC236}">
                <a16:creationId xmlns:a16="http://schemas.microsoft.com/office/drawing/2014/main" id="{C4FB6D3F-04F8-49BB-AEB4-A96BDEC43AC0}"/>
              </a:ext>
            </a:extLst>
          </p:cNvPr>
          <p:cNvSpPr>
            <a:spLocks noChangeShapeType="1"/>
          </p:cNvSpPr>
          <p:nvPr/>
        </p:nvSpPr>
        <p:spPr bwMode="auto">
          <a:xfrm>
            <a:off x="7907338" y="5894388"/>
            <a:ext cx="20431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1790" name="Rectangle 46">
            <a:extLst>
              <a:ext uri="{FF2B5EF4-FFF2-40B4-BE49-F238E27FC236}">
                <a16:creationId xmlns:a16="http://schemas.microsoft.com/office/drawing/2014/main" id="{1F6F3EB4-85A4-43E4-8144-C2AF0A2CE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0739" y="6030913"/>
            <a:ext cx="338235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pt-BR" sz="2400"/>
              <a:t>1</a:t>
            </a:r>
          </a:p>
        </p:txBody>
      </p:sp>
      <p:sp>
        <p:nvSpPr>
          <p:cNvPr id="31791" name="Rectangle 47">
            <a:extLst>
              <a:ext uri="{FF2B5EF4-FFF2-40B4-BE49-F238E27FC236}">
                <a16:creationId xmlns:a16="http://schemas.microsoft.com/office/drawing/2014/main" id="{B304BC9D-E21D-473F-94AC-9CC78EFB5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501" y="6030913"/>
            <a:ext cx="338235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pt-BR" sz="2400"/>
              <a:t>2</a:t>
            </a:r>
          </a:p>
        </p:txBody>
      </p:sp>
      <p:sp>
        <p:nvSpPr>
          <p:cNvPr id="31792" name="Rectangle 48">
            <a:extLst>
              <a:ext uri="{FF2B5EF4-FFF2-40B4-BE49-F238E27FC236}">
                <a16:creationId xmlns:a16="http://schemas.microsoft.com/office/drawing/2014/main" id="{B88B8A5B-B822-4267-9F6A-93D7D7BF4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3176" y="6030913"/>
            <a:ext cx="338235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pt-BR" sz="2400"/>
              <a:t>3</a:t>
            </a:r>
          </a:p>
        </p:txBody>
      </p:sp>
      <p:sp>
        <p:nvSpPr>
          <p:cNvPr id="31793" name="Rectangle 49">
            <a:extLst>
              <a:ext uri="{FF2B5EF4-FFF2-40B4-BE49-F238E27FC236}">
                <a16:creationId xmlns:a16="http://schemas.microsoft.com/office/drawing/2014/main" id="{5A63A367-5CCE-4E9B-A9CF-17AF4B3A53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1" y="5949951"/>
            <a:ext cx="1242329" cy="520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pt-BR" sz="2800"/>
              <a:t>Grupos</a:t>
            </a:r>
          </a:p>
        </p:txBody>
      </p:sp>
      <p:sp>
        <p:nvSpPr>
          <p:cNvPr id="31794" name="Rectangle 50">
            <a:extLst>
              <a:ext uri="{FF2B5EF4-FFF2-40B4-BE49-F238E27FC236}">
                <a16:creationId xmlns:a16="http://schemas.microsoft.com/office/drawing/2014/main" id="{5FB4EB2D-E737-456F-94BA-33677652EB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1089" y="5373688"/>
            <a:ext cx="1259769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pt-BR" sz="2400" dirty="0" err="1"/>
              <a:t>Estações</a:t>
            </a:r>
            <a:endParaRPr lang="en-US" altLang="pt-BR" sz="2400" dirty="0"/>
          </a:p>
        </p:txBody>
      </p:sp>
    </p:spTree>
    <p:extLst>
      <p:ext uri="{BB962C8B-B14F-4D97-AF65-F5344CB8AC3E}">
        <p14:creationId xmlns:p14="http://schemas.microsoft.com/office/powerpoint/2010/main" val="20704133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562</Words>
  <Application>Microsoft Office PowerPoint</Application>
  <PresentationFormat>Widescreen</PresentationFormat>
  <Paragraphs>186</Paragraphs>
  <Slides>8</Slides>
  <Notes>8</Notes>
  <HiddenSlides>0</HiddenSlides>
  <MMClips>0</MMClips>
  <ScaleCrop>false</ScaleCrop>
  <HeadingPairs>
    <vt:vector size="8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Tema do Office</vt:lpstr>
      <vt:lpstr>Microsoft Equation 3.0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Mauricio Camargo</dc:creator>
  <cp:lastModifiedBy>Mauricio Camargo</cp:lastModifiedBy>
  <cp:revision>6</cp:revision>
  <dcterms:created xsi:type="dcterms:W3CDTF">2017-11-22T11:37:10Z</dcterms:created>
  <dcterms:modified xsi:type="dcterms:W3CDTF">2017-11-22T12:15:21Z</dcterms:modified>
</cp:coreProperties>
</file>